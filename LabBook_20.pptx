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297" r:id="rId14"/>
    <p:sldId id="290" r:id="rId15"/>
    <p:sldId id="292" r:id="rId16"/>
    <p:sldId id="298" r:id="rId17"/>
    <p:sldId id="288" r:id="rId1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10/03/2026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10/03/2026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Sergi </a:t>
            </a:r>
            <a:r>
              <a:rPr lang="es-ES" spc="165" dirty="0" err="1">
                <a:latin typeface="Arial"/>
                <a:cs typeface="Arial"/>
              </a:rPr>
              <a:t>Nàcher</a:t>
            </a:r>
            <a:r>
              <a:rPr lang="es-ES" spc="165" dirty="0">
                <a:latin typeface="Arial"/>
                <a:cs typeface="Arial"/>
              </a:rPr>
              <a:t> Muñoz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5" name="CuadroTexto 4">
            <a:extLst>
              <a:ext uri="{FF2B5EF4-FFF2-40B4-BE49-F238E27FC236}">
                <a16:creationId xmlns:a16="http://schemas.microsoft.com/office/drawing/2014/main" id="{43C69CDD-218E-494A-8C3E-1431DB5F9DC7}"/>
              </a:ext>
            </a:extLst>
          </p:cNvPr>
          <p:cNvSpPr txBox="1"/>
          <p:nvPr/>
        </p:nvSpPr>
        <p:spPr>
          <a:xfrm>
            <a:off x="8153400" y="1833699"/>
            <a:ext cx="3709297" cy="830997"/>
          </a:xfrm>
          <a:prstGeom prst="rect">
            <a:avLst/>
          </a:prstGeom>
          <a:noFill/>
        </p:spPr>
        <p:txBody>
          <a:bodyPr wrap="square" rtlCol="0">
            <a:spAutoFit/>
          </a:bodyPr>
          <a:lstStyle/>
          <a:p>
            <a:r>
              <a:rPr lang="es-ES" sz="1200" dirty="0"/>
              <a:t>Modo de operación:</a:t>
            </a:r>
          </a:p>
          <a:p>
            <a:r>
              <a:rPr lang="es-ES" sz="1200" dirty="0" err="1"/>
              <a:t>Directional</a:t>
            </a:r>
            <a:r>
              <a:rPr lang="es-ES" sz="1200" dirty="0"/>
              <a:t> </a:t>
            </a:r>
            <a:r>
              <a:rPr lang="es-ES" sz="1200" dirty="0" err="1"/>
              <a:t>couplers</a:t>
            </a:r>
            <a:r>
              <a:rPr lang="es-ES" sz="1200" dirty="0"/>
              <a:t> </a:t>
            </a:r>
            <a:r>
              <a:rPr lang="es-ES" sz="1200" dirty="0">
                <a:sym typeface="Wingdings" panose="05000000000000000000" pitchFamily="2" charset="2"/>
              </a:rPr>
              <a:t></a:t>
            </a:r>
            <a:r>
              <a:rPr lang="es-ES" sz="1200" dirty="0"/>
              <a:t>Transferencia de campo evanescente</a:t>
            </a:r>
          </a:p>
          <a:p>
            <a:r>
              <a:rPr lang="es-ES" sz="1200" dirty="0"/>
              <a:t>MMI </a:t>
            </a:r>
            <a:r>
              <a:rPr lang="es-ES" sz="1200" dirty="0">
                <a:sym typeface="Wingdings" panose="05000000000000000000" pitchFamily="2" charset="2"/>
              </a:rPr>
              <a:t> </a:t>
            </a:r>
            <a:r>
              <a:rPr lang="es-ES" sz="1200" dirty="0"/>
              <a:t>Interferencia modal</a:t>
            </a:r>
          </a:p>
        </p:txBody>
      </p:sp>
      <p:sp>
        <p:nvSpPr>
          <p:cNvPr id="6" name="CuadroTexto 5">
            <a:extLst>
              <a:ext uri="{FF2B5EF4-FFF2-40B4-BE49-F238E27FC236}">
                <a16:creationId xmlns:a16="http://schemas.microsoft.com/office/drawing/2014/main" id="{F9FF0642-522B-41B8-BECF-6A66A842FFBA}"/>
              </a:ext>
            </a:extLst>
          </p:cNvPr>
          <p:cNvSpPr txBox="1"/>
          <p:nvPr/>
        </p:nvSpPr>
        <p:spPr>
          <a:xfrm>
            <a:off x="8153400" y="2875625"/>
            <a:ext cx="3124200" cy="461665"/>
          </a:xfrm>
          <a:prstGeom prst="rect">
            <a:avLst/>
          </a:prstGeom>
          <a:noFill/>
        </p:spPr>
        <p:txBody>
          <a:bodyPr wrap="square" rtlCol="0">
            <a:spAutoFit/>
          </a:bodyPr>
          <a:lstStyle/>
          <a:p>
            <a:r>
              <a:rPr lang="es-ES" sz="1200" dirty="0"/>
              <a:t>En el DC el índice efectivo se usa para hallar la longitud de batido.</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tanto, para obtener una transferencia completa de energía entre guías de onda, se necesitará una longitud (L) igual a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 Por otra parte, para obtener una división de la potencia a la mitad se necesita una longitud (L) de la mitad de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K vs L/</a:t>
            </a:r>
            <a:r>
              <a:rPr lang="en-US" dirty="0" err="1"/>
              <a:t>Lpi</a:t>
            </a:r>
            <a:r>
              <a:rPr lang="en-US" dirty="0"/>
              <a:t>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639DB798-21EF-485D-976A-2DE43EF48492}"/>
              </a:ext>
            </a:extLst>
          </p:cNvPr>
          <p:cNvPicPr>
            <a:picLocks noChangeAspect="1"/>
          </p:cNvPicPr>
          <p:nvPr/>
        </p:nvPicPr>
        <p:blipFill>
          <a:blip r:embed="rId6"/>
          <a:stretch>
            <a:fillRect/>
          </a:stretch>
        </p:blipFill>
        <p:spPr>
          <a:xfrm>
            <a:off x="4876800" y="1536921"/>
            <a:ext cx="4877435" cy="3153613"/>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583019" y="4889565"/>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Se ha </a:t>
            </a:r>
            <a:r>
              <a:rPr lang="en-US" sz="1200" dirty="0" err="1">
                <a:latin typeface="Arial" panose="020B0604020202020204" pitchFamily="34" charset="0"/>
                <a:cs typeface="Arial" panose="020B0604020202020204" pitchFamily="34" charset="0"/>
              </a:rPr>
              <a:t>realizado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muestra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cambio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batido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del gap entre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Podemos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que hay un </a:t>
            </a:r>
            <a:r>
              <a:rPr lang="en-US" sz="1200" dirty="0" err="1">
                <a:latin typeface="Arial" panose="020B0604020202020204" pitchFamily="34" charset="0"/>
                <a:cs typeface="Arial" panose="020B0604020202020204" pitchFamily="34" charset="0"/>
              </a:rPr>
              <a:t>aumento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medida</a:t>
            </a:r>
            <a:r>
              <a:rPr lang="en-US" sz="1200" dirty="0">
                <a:latin typeface="Arial" panose="020B0604020202020204" pitchFamily="34" charset="0"/>
                <a:cs typeface="Arial" panose="020B0604020202020204" pitchFamily="34" charset="0"/>
              </a:rPr>
              <a:t> que se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gap,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que al </a:t>
            </a:r>
            <a:r>
              <a:rPr lang="en-US" sz="1200" dirty="0" err="1">
                <a:latin typeface="Arial" panose="020B0604020202020204" pitchFamily="34" charset="0"/>
                <a:cs typeface="Arial" panose="020B0604020202020204" pitchFamily="34" charset="0"/>
              </a:rPr>
              <a:t>estar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lejos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intercambia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estas</a:t>
            </a:r>
            <a:r>
              <a:rPr lang="en-US" sz="1200" dirty="0">
                <a:latin typeface="Arial" panose="020B0604020202020204" pitchFamily="34" charset="0"/>
                <a:cs typeface="Arial" panose="020B0604020202020204" pitchFamily="34" charset="0"/>
              </a:rPr>
              <a:t>, por lo que se </a:t>
            </a:r>
            <a:r>
              <a:rPr lang="en-US" sz="1200" dirty="0" err="1">
                <a:latin typeface="Arial" panose="020B0604020202020204" pitchFamily="34" charset="0"/>
                <a:cs typeface="Arial" panose="020B0604020202020204" pitchFamily="34" charset="0"/>
              </a:rPr>
              <a:t>necesita</a:t>
            </a:r>
            <a:r>
              <a:rPr lang="en-US" sz="1200" dirty="0">
                <a:latin typeface="Arial" panose="020B0604020202020204" pitchFamily="34" charset="0"/>
                <a:cs typeface="Arial" panose="020B0604020202020204" pitchFamily="34" charset="0"/>
              </a:rPr>
              <a:t> una longitude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grande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poder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la luz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No obstante, al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largo, </a:t>
            </a:r>
            <a:r>
              <a:rPr lang="en-US" sz="1200" dirty="0" err="1">
                <a:latin typeface="Arial" panose="020B0604020202020204" pitchFamily="34" charset="0"/>
                <a:cs typeface="Arial" panose="020B0604020202020204" pitchFamily="34" charset="0"/>
              </a:rPr>
              <a:t>habrán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mayores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perdidas</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6" name="Imagen 5">
            <a:extLst>
              <a:ext uri="{FF2B5EF4-FFF2-40B4-BE49-F238E27FC236}">
                <a16:creationId xmlns:a16="http://schemas.microsoft.com/office/drawing/2014/main" id="{F1D5D206-4269-46CA-AE98-83E2412ABD84}"/>
              </a:ext>
            </a:extLst>
          </p:cNvPr>
          <p:cNvPicPr>
            <a:picLocks noChangeAspect="1"/>
          </p:cNvPicPr>
          <p:nvPr/>
        </p:nvPicPr>
        <p:blipFill>
          <a:blip r:embed="rId5"/>
          <a:stretch>
            <a:fillRect/>
          </a:stretch>
        </p:blipFill>
        <p:spPr>
          <a:xfrm>
            <a:off x="4038600" y="1484265"/>
            <a:ext cx="4114800" cy="3227990"/>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43ED34-A14D-4A6E-B8F4-17FFD9B09985}"/>
              </a:ext>
            </a:extLst>
          </p:cNvPr>
          <p:cNvSpPr>
            <a:spLocks noGrp="1"/>
          </p:cNvSpPr>
          <p:nvPr>
            <p:ph type="title"/>
          </p:nvPr>
        </p:nvSpPr>
        <p:spPr/>
        <p:txBody>
          <a:bodyPr/>
          <a:lstStyle/>
          <a:p>
            <a:r>
              <a:rPr lang="es-ES" dirty="0" err="1"/>
              <a:t>Propagation</a:t>
            </a:r>
            <a:r>
              <a:rPr lang="es-ES" dirty="0"/>
              <a:t> </a:t>
            </a:r>
            <a:r>
              <a:rPr lang="es-ES" dirty="0" err="1"/>
              <a:t>plots</a:t>
            </a:r>
            <a:r>
              <a:rPr lang="es-ES" dirty="0"/>
              <a:t> </a:t>
            </a:r>
            <a:r>
              <a:rPr lang="es-ES" dirty="0" err="1"/>
              <a:t>for</a:t>
            </a:r>
            <a:r>
              <a:rPr lang="es-ES" dirty="0"/>
              <a:t> </a:t>
            </a:r>
            <a:r>
              <a:rPr lang="es-ES" dirty="0" err="1"/>
              <a:t>each</a:t>
            </a:r>
            <a:r>
              <a:rPr lang="es-ES" dirty="0"/>
              <a:t> gap </a:t>
            </a:r>
            <a:r>
              <a:rPr lang="es-ES" dirty="0" err="1"/>
              <a:t>between</a:t>
            </a:r>
            <a:r>
              <a:rPr lang="es-ES" dirty="0"/>
              <a:t> </a:t>
            </a:r>
            <a:r>
              <a:rPr lang="en-US" dirty="0"/>
              <a:t>0.6 - 1.6 µm (step 0.1 µm)</a:t>
            </a:r>
            <a:endParaRPr lang="es-ES" dirty="0"/>
          </a:p>
        </p:txBody>
      </p:sp>
      <p:sp>
        <p:nvSpPr>
          <p:cNvPr id="4" name="Marcador de pie de página 3">
            <a:extLst>
              <a:ext uri="{FF2B5EF4-FFF2-40B4-BE49-F238E27FC236}">
                <a16:creationId xmlns:a16="http://schemas.microsoft.com/office/drawing/2014/main" id="{9E771CBF-5C82-482D-923C-D4E6E77ECE0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B0E895DD-4DDF-49D4-993B-E9F3D1EC9FF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9B4A4D68-8EE2-4129-A570-C1FFFC38DAAF}"/>
              </a:ext>
            </a:extLst>
          </p:cNvPr>
          <p:cNvPicPr>
            <a:picLocks noChangeAspect="1"/>
          </p:cNvPicPr>
          <p:nvPr/>
        </p:nvPicPr>
        <p:blipFill>
          <a:blip r:embed="rId2"/>
          <a:stretch>
            <a:fillRect/>
          </a:stretch>
        </p:blipFill>
        <p:spPr>
          <a:xfrm>
            <a:off x="609599" y="838200"/>
            <a:ext cx="4341395" cy="1104126"/>
          </a:xfrm>
          <a:prstGeom prst="rect">
            <a:avLst/>
          </a:prstGeom>
        </p:spPr>
      </p:pic>
      <p:pic>
        <p:nvPicPr>
          <p:cNvPr id="8" name="Imagen 7">
            <a:extLst>
              <a:ext uri="{FF2B5EF4-FFF2-40B4-BE49-F238E27FC236}">
                <a16:creationId xmlns:a16="http://schemas.microsoft.com/office/drawing/2014/main" id="{F9668BE0-230A-4D72-8A9C-718E3034D8AC}"/>
              </a:ext>
            </a:extLst>
          </p:cNvPr>
          <p:cNvPicPr>
            <a:picLocks noChangeAspect="1"/>
          </p:cNvPicPr>
          <p:nvPr/>
        </p:nvPicPr>
        <p:blipFill>
          <a:blip r:embed="rId3"/>
          <a:stretch>
            <a:fillRect/>
          </a:stretch>
        </p:blipFill>
        <p:spPr>
          <a:xfrm>
            <a:off x="609593" y="1867477"/>
            <a:ext cx="4341401" cy="998973"/>
          </a:xfrm>
          <a:prstGeom prst="rect">
            <a:avLst/>
          </a:prstGeom>
        </p:spPr>
      </p:pic>
      <p:pic>
        <p:nvPicPr>
          <p:cNvPr id="10" name="Imagen 9">
            <a:extLst>
              <a:ext uri="{FF2B5EF4-FFF2-40B4-BE49-F238E27FC236}">
                <a16:creationId xmlns:a16="http://schemas.microsoft.com/office/drawing/2014/main" id="{1B391061-3F8E-4898-8597-8AEB14C95C33}"/>
              </a:ext>
            </a:extLst>
          </p:cNvPr>
          <p:cNvPicPr>
            <a:picLocks noChangeAspect="1"/>
          </p:cNvPicPr>
          <p:nvPr/>
        </p:nvPicPr>
        <p:blipFill>
          <a:blip r:embed="rId4"/>
          <a:stretch>
            <a:fillRect/>
          </a:stretch>
        </p:blipFill>
        <p:spPr>
          <a:xfrm>
            <a:off x="609593" y="2843823"/>
            <a:ext cx="4341401" cy="916351"/>
          </a:xfrm>
          <a:prstGeom prst="rect">
            <a:avLst/>
          </a:prstGeom>
        </p:spPr>
      </p:pic>
      <p:pic>
        <p:nvPicPr>
          <p:cNvPr id="12" name="Imagen 11">
            <a:extLst>
              <a:ext uri="{FF2B5EF4-FFF2-40B4-BE49-F238E27FC236}">
                <a16:creationId xmlns:a16="http://schemas.microsoft.com/office/drawing/2014/main" id="{52B3D118-9F8D-4E9A-8F0B-4AEB6C65063A}"/>
              </a:ext>
            </a:extLst>
          </p:cNvPr>
          <p:cNvPicPr>
            <a:picLocks noChangeAspect="1"/>
          </p:cNvPicPr>
          <p:nvPr/>
        </p:nvPicPr>
        <p:blipFill>
          <a:blip r:embed="rId5"/>
          <a:stretch>
            <a:fillRect/>
          </a:stretch>
        </p:blipFill>
        <p:spPr>
          <a:xfrm>
            <a:off x="609593" y="3756680"/>
            <a:ext cx="4341402" cy="856263"/>
          </a:xfrm>
          <a:prstGeom prst="rect">
            <a:avLst/>
          </a:prstGeom>
        </p:spPr>
      </p:pic>
      <p:pic>
        <p:nvPicPr>
          <p:cNvPr id="14" name="Imagen 13">
            <a:extLst>
              <a:ext uri="{FF2B5EF4-FFF2-40B4-BE49-F238E27FC236}">
                <a16:creationId xmlns:a16="http://schemas.microsoft.com/office/drawing/2014/main" id="{42910353-9139-4C23-952B-2AE127801635}"/>
              </a:ext>
            </a:extLst>
          </p:cNvPr>
          <p:cNvPicPr>
            <a:picLocks noChangeAspect="1"/>
          </p:cNvPicPr>
          <p:nvPr/>
        </p:nvPicPr>
        <p:blipFill>
          <a:blip r:embed="rId6"/>
          <a:stretch>
            <a:fillRect/>
          </a:stretch>
        </p:blipFill>
        <p:spPr>
          <a:xfrm>
            <a:off x="620172" y="4600717"/>
            <a:ext cx="4341401" cy="803685"/>
          </a:xfrm>
          <a:prstGeom prst="rect">
            <a:avLst/>
          </a:prstGeom>
        </p:spPr>
      </p:pic>
      <p:pic>
        <p:nvPicPr>
          <p:cNvPr id="16" name="Imagen 15">
            <a:extLst>
              <a:ext uri="{FF2B5EF4-FFF2-40B4-BE49-F238E27FC236}">
                <a16:creationId xmlns:a16="http://schemas.microsoft.com/office/drawing/2014/main" id="{1A4A0DD5-D810-4F77-B4E0-2979AB33D0B1}"/>
              </a:ext>
            </a:extLst>
          </p:cNvPr>
          <p:cNvPicPr>
            <a:picLocks noChangeAspect="1"/>
          </p:cNvPicPr>
          <p:nvPr/>
        </p:nvPicPr>
        <p:blipFill>
          <a:blip r:embed="rId7"/>
          <a:stretch>
            <a:fillRect/>
          </a:stretch>
        </p:blipFill>
        <p:spPr>
          <a:xfrm>
            <a:off x="599017" y="5401487"/>
            <a:ext cx="4341395" cy="766129"/>
          </a:xfrm>
          <a:prstGeom prst="rect">
            <a:avLst/>
          </a:prstGeom>
        </p:spPr>
      </p:pic>
      <p:pic>
        <p:nvPicPr>
          <p:cNvPr id="18" name="Imagen 17">
            <a:extLst>
              <a:ext uri="{FF2B5EF4-FFF2-40B4-BE49-F238E27FC236}">
                <a16:creationId xmlns:a16="http://schemas.microsoft.com/office/drawing/2014/main" id="{FE48C53E-1FE3-41C5-A922-9A22805A30FD}"/>
              </a:ext>
            </a:extLst>
          </p:cNvPr>
          <p:cNvPicPr>
            <a:picLocks noChangeAspect="1"/>
          </p:cNvPicPr>
          <p:nvPr/>
        </p:nvPicPr>
        <p:blipFill>
          <a:blip r:embed="rId8"/>
          <a:stretch>
            <a:fillRect/>
          </a:stretch>
        </p:blipFill>
        <p:spPr>
          <a:xfrm>
            <a:off x="5791200" y="838200"/>
            <a:ext cx="4341396" cy="736085"/>
          </a:xfrm>
          <a:prstGeom prst="rect">
            <a:avLst/>
          </a:prstGeom>
        </p:spPr>
      </p:pic>
      <p:pic>
        <p:nvPicPr>
          <p:cNvPr id="20" name="Imagen 19">
            <a:extLst>
              <a:ext uri="{FF2B5EF4-FFF2-40B4-BE49-F238E27FC236}">
                <a16:creationId xmlns:a16="http://schemas.microsoft.com/office/drawing/2014/main" id="{36E77304-8992-4F72-8D3E-D10C10C02EF2}"/>
              </a:ext>
            </a:extLst>
          </p:cNvPr>
          <p:cNvPicPr>
            <a:picLocks noChangeAspect="1"/>
          </p:cNvPicPr>
          <p:nvPr/>
        </p:nvPicPr>
        <p:blipFill>
          <a:blip r:embed="rId9"/>
          <a:stretch>
            <a:fillRect/>
          </a:stretch>
        </p:blipFill>
        <p:spPr>
          <a:xfrm>
            <a:off x="5791200" y="1577906"/>
            <a:ext cx="4341394" cy="713551"/>
          </a:xfrm>
          <a:prstGeom prst="rect">
            <a:avLst/>
          </a:prstGeom>
        </p:spPr>
      </p:pic>
      <p:pic>
        <p:nvPicPr>
          <p:cNvPr id="22" name="Imagen 21">
            <a:extLst>
              <a:ext uri="{FF2B5EF4-FFF2-40B4-BE49-F238E27FC236}">
                <a16:creationId xmlns:a16="http://schemas.microsoft.com/office/drawing/2014/main" id="{64294B9B-C3F9-4932-8522-139DA0BF0EAF}"/>
              </a:ext>
            </a:extLst>
          </p:cNvPr>
          <p:cNvPicPr>
            <a:picLocks noChangeAspect="1"/>
          </p:cNvPicPr>
          <p:nvPr/>
        </p:nvPicPr>
        <p:blipFill>
          <a:blip r:embed="rId10"/>
          <a:stretch>
            <a:fillRect/>
          </a:stretch>
        </p:blipFill>
        <p:spPr>
          <a:xfrm>
            <a:off x="5791200" y="2291457"/>
            <a:ext cx="4341399" cy="691018"/>
          </a:xfrm>
          <a:prstGeom prst="rect">
            <a:avLst/>
          </a:prstGeom>
        </p:spPr>
      </p:pic>
      <p:pic>
        <p:nvPicPr>
          <p:cNvPr id="24" name="Imagen 23">
            <a:extLst>
              <a:ext uri="{FF2B5EF4-FFF2-40B4-BE49-F238E27FC236}">
                <a16:creationId xmlns:a16="http://schemas.microsoft.com/office/drawing/2014/main" id="{8A7977DA-AD60-4E68-B777-A03669F1B05F}"/>
              </a:ext>
            </a:extLst>
          </p:cNvPr>
          <p:cNvPicPr>
            <a:picLocks noChangeAspect="1"/>
          </p:cNvPicPr>
          <p:nvPr/>
        </p:nvPicPr>
        <p:blipFill>
          <a:blip r:embed="rId11"/>
          <a:stretch>
            <a:fillRect/>
          </a:stretch>
        </p:blipFill>
        <p:spPr>
          <a:xfrm>
            <a:off x="5791200" y="2982475"/>
            <a:ext cx="4341395" cy="683507"/>
          </a:xfrm>
          <a:prstGeom prst="rect">
            <a:avLst/>
          </a:prstGeom>
        </p:spPr>
      </p:pic>
      <p:pic>
        <p:nvPicPr>
          <p:cNvPr id="26" name="Imagen 25">
            <a:extLst>
              <a:ext uri="{FF2B5EF4-FFF2-40B4-BE49-F238E27FC236}">
                <a16:creationId xmlns:a16="http://schemas.microsoft.com/office/drawing/2014/main" id="{3A84F086-2E10-48CA-9408-1A0AC3EAD974}"/>
              </a:ext>
            </a:extLst>
          </p:cNvPr>
          <p:cNvPicPr>
            <a:picLocks noChangeAspect="1"/>
          </p:cNvPicPr>
          <p:nvPr/>
        </p:nvPicPr>
        <p:blipFill>
          <a:blip r:embed="rId12"/>
          <a:stretch>
            <a:fillRect/>
          </a:stretch>
        </p:blipFill>
        <p:spPr>
          <a:xfrm>
            <a:off x="5791200" y="3661119"/>
            <a:ext cx="4341395" cy="668485"/>
          </a:xfrm>
          <a:prstGeom prst="rect">
            <a:avLst/>
          </a:prstGeom>
        </p:spPr>
      </p:pic>
    </p:spTree>
    <p:extLst>
      <p:ext uri="{BB962C8B-B14F-4D97-AF65-F5344CB8AC3E}">
        <p14:creationId xmlns:p14="http://schemas.microsoft.com/office/powerpoint/2010/main" val="2591439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para la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sufre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con un </a:t>
            </a:r>
            <a:r>
              <a:rPr lang="en-US" sz="1200" dirty="0" err="1">
                <a:latin typeface="Arial" panose="020B0604020202020204" pitchFamily="34" charset="0"/>
                <a:cs typeface="Arial" panose="020B0604020202020204" pitchFamily="34" charset="0"/>
              </a:rPr>
              <a:t>coeficiente</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K=0.1</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1087</TotalTime>
  <Words>1218</Words>
  <Application>Microsoft Office PowerPoint</Application>
  <PresentationFormat>Panorámica</PresentationFormat>
  <Paragraphs>203</Paragraphs>
  <Slides>17</Slides>
  <Notes>11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17</vt:i4>
      </vt:variant>
    </vt:vector>
  </HeadingPairs>
  <TitlesOfParts>
    <vt:vector size="24"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Propagation plots for each gap between 0.6 - 1.6 µm (step 0.1 µm)</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22</cp:revision>
  <dcterms:created xsi:type="dcterms:W3CDTF">2025-01-27T02:46:57Z</dcterms:created>
  <dcterms:modified xsi:type="dcterms:W3CDTF">2026-03-10T12:38:20Z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
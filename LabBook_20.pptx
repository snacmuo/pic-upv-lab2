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6"/>
  </p:notesMasterIdLst>
  <p:handoutMasterIdLst>
    <p:handoutMasterId r:id="rId27"/>
  </p:handoutMasterIdLst>
  <p:sldIdLst>
    <p:sldId id="256" r:id="rId2"/>
    <p:sldId id="289" r:id="rId3"/>
    <p:sldId id="295" r:id="rId4"/>
    <p:sldId id="302" r:id="rId5"/>
    <p:sldId id="303" r:id="rId6"/>
    <p:sldId id="304" r:id="rId7"/>
    <p:sldId id="291" r:id="rId8"/>
    <p:sldId id="311" r:id="rId9"/>
    <p:sldId id="296" r:id="rId10"/>
    <p:sldId id="294" r:id="rId11"/>
    <p:sldId id="310" r:id="rId12"/>
    <p:sldId id="299" r:id="rId13"/>
    <p:sldId id="305" r:id="rId14"/>
    <p:sldId id="300" r:id="rId15"/>
    <p:sldId id="306" r:id="rId16"/>
    <p:sldId id="301" r:id="rId17"/>
    <p:sldId id="307" r:id="rId18"/>
    <p:sldId id="308" r:id="rId19"/>
    <p:sldId id="309" r:id="rId20"/>
    <p:sldId id="297" r:id="rId21"/>
    <p:sldId id="290" r:id="rId22"/>
    <p:sldId id="292" r:id="rId23"/>
    <p:sldId id="298"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13" d="100"/>
          <a:sy n="113" d="100"/>
        </p:scale>
        <p:origin x="1056" y="10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Sergi </a:t>
            </a:r>
            <a:r>
              <a:rPr lang="es-ES" spc="165" dirty="0" err="1">
                <a:latin typeface="Arial"/>
                <a:cs typeface="Arial"/>
              </a:rPr>
              <a:t>Nàcher</a:t>
            </a:r>
            <a:r>
              <a:rPr lang="es-ES" spc="165" dirty="0">
                <a:latin typeface="Arial"/>
                <a:cs typeface="Arial"/>
              </a:rPr>
              <a:t> Muñoz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5" name="CuadroTexto 4">
            <a:extLst>
              <a:ext uri="{FF2B5EF4-FFF2-40B4-BE49-F238E27FC236}">
                <a16:creationId xmlns:a16="http://schemas.microsoft.com/office/drawing/2014/main" id="{43C69CDD-218E-494A-8C3E-1431DB5F9DC7}"/>
              </a:ext>
            </a:extLst>
          </p:cNvPr>
          <p:cNvSpPr txBox="1"/>
          <p:nvPr/>
        </p:nvSpPr>
        <p:spPr>
          <a:xfrm>
            <a:off x="8153400" y="1833699"/>
            <a:ext cx="3709297" cy="830997"/>
          </a:xfrm>
          <a:prstGeom prst="rect">
            <a:avLst/>
          </a:prstGeom>
          <a:noFill/>
        </p:spPr>
        <p:txBody>
          <a:bodyPr wrap="square" rtlCol="0">
            <a:spAutoFit/>
          </a:bodyPr>
          <a:lstStyle/>
          <a:p>
            <a:r>
              <a:rPr lang="es-ES" sz="1200" dirty="0"/>
              <a:t>Modo de operación:</a:t>
            </a:r>
          </a:p>
          <a:p>
            <a:r>
              <a:rPr lang="es-ES" sz="1200" dirty="0" err="1"/>
              <a:t>Directional</a:t>
            </a:r>
            <a:r>
              <a:rPr lang="es-ES" sz="1200" dirty="0"/>
              <a:t> </a:t>
            </a:r>
            <a:r>
              <a:rPr lang="es-ES" sz="1200" dirty="0" err="1"/>
              <a:t>couplers</a:t>
            </a:r>
            <a:r>
              <a:rPr lang="es-ES" sz="1200" dirty="0"/>
              <a:t> </a:t>
            </a:r>
            <a:r>
              <a:rPr lang="es-ES" sz="1200" dirty="0">
                <a:sym typeface="Wingdings" panose="05000000000000000000" pitchFamily="2" charset="2"/>
              </a:rPr>
              <a:t></a:t>
            </a:r>
            <a:r>
              <a:rPr lang="es-ES" sz="1200" dirty="0"/>
              <a:t>Transferencia de campo evanescente</a:t>
            </a:r>
          </a:p>
          <a:p>
            <a:r>
              <a:rPr lang="es-ES" sz="1200" dirty="0"/>
              <a:t>MMI </a:t>
            </a:r>
            <a:r>
              <a:rPr lang="es-ES" sz="1200" dirty="0">
                <a:sym typeface="Wingdings" panose="05000000000000000000" pitchFamily="2" charset="2"/>
              </a:rPr>
              <a:t> </a:t>
            </a:r>
            <a:r>
              <a:rPr lang="es-ES" sz="1200" dirty="0"/>
              <a:t>Interferencia modal</a:t>
            </a:r>
          </a:p>
        </p:txBody>
      </p:sp>
      <p:sp>
        <p:nvSpPr>
          <p:cNvPr id="6" name="CuadroTexto 5">
            <a:extLst>
              <a:ext uri="{FF2B5EF4-FFF2-40B4-BE49-F238E27FC236}">
                <a16:creationId xmlns:a16="http://schemas.microsoft.com/office/drawing/2014/main" id="{F9FF0642-522B-41B8-BECF-6A66A842FFBA}"/>
              </a:ext>
            </a:extLst>
          </p:cNvPr>
          <p:cNvSpPr txBox="1"/>
          <p:nvPr/>
        </p:nvSpPr>
        <p:spPr>
          <a:xfrm>
            <a:off x="8153400" y="2875625"/>
            <a:ext cx="3124200" cy="461665"/>
          </a:xfrm>
          <a:prstGeom prst="rect">
            <a:avLst/>
          </a:prstGeom>
          <a:noFill/>
        </p:spPr>
        <p:txBody>
          <a:bodyPr wrap="square" rtlCol="0">
            <a:spAutoFit/>
          </a:bodyPr>
          <a:lstStyle/>
          <a:p>
            <a:r>
              <a:rPr lang="es-ES" sz="1200" dirty="0"/>
              <a:t>En el DC el índice efectivo se usa para hallar la longitud de batido.</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tanto, para obtener una transferencia completa de energía entre guías de onda, se necesitará una longitud (L) igual a la longitud de batido (</a:t>
            </a:r>
            <a:r>
              <a:rPr lang="es-ES" sz="1200" dirty="0" err="1">
                <a:latin typeface="Arial" panose="020B0604020202020204" pitchFamily="34" charset="0"/>
                <a:cs typeface="Arial" panose="020B0604020202020204" pitchFamily="34" charset="0"/>
              </a:rPr>
              <a:t>L_pi</a:t>
            </a:r>
            <a:r>
              <a:rPr lang="es-ES" sz="1200" dirty="0">
                <a:latin typeface="Arial" panose="020B0604020202020204" pitchFamily="34" charset="0"/>
                <a:cs typeface="Arial" panose="020B0604020202020204" pitchFamily="34" charset="0"/>
              </a:rPr>
              <a:t>). Por otra parte, para obtener una división de la potencia a la mitad se necesita una longitud (L) de la mitad de la longitud de batido (</a:t>
            </a:r>
            <a:r>
              <a:rPr lang="es-ES" sz="1200" dirty="0" err="1">
                <a:latin typeface="Arial" panose="020B0604020202020204" pitchFamily="34" charset="0"/>
                <a:cs typeface="Arial" panose="020B0604020202020204" pitchFamily="34" charset="0"/>
              </a:rPr>
              <a:t>L_pi</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K vs L/</a:t>
            </a:r>
            <a:r>
              <a:rPr lang="en-US" dirty="0" err="1"/>
              <a:t>Lpi</a:t>
            </a:r>
            <a:r>
              <a:rPr lang="en-US" dirty="0"/>
              <a:t>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639DB798-21EF-485D-976A-2DE43EF48492}"/>
              </a:ext>
            </a:extLst>
          </p:cNvPr>
          <p:cNvPicPr>
            <a:picLocks noChangeAspect="1"/>
          </p:cNvPicPr>
          <p:nvPr/>
        </p:nvPicPr>
        <p:blipFill>
          <a:blip r:embed="rId6"/>
          <a:stretch>
            <a:fillRect/>
          </a:stretch>
        </p:blipFill>
        <p:spPr>
          <a:xfrm>
            <a:off x="4876800" y="1536921"/>
            <a:ext cx="4877435" cy="3153613"/>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Gap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583019" y="4889565"/>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Se ha </a:t>
            </a:r>
            <a:r>
              <a:rPr lang="en-US" sz="1200" dirty="0" err="1">
                <a:latin typeface="Arial" panose="020B0604020202020204" pitchFamily="34" charset="0"/>
                <a:cs typeface="Arial" panose="020B0604020202020204" pitchFamily="34" charset="0"/>
              </a:rPr>
              <a:t>realizado</a:t>
            </a:r>
            <a:r>
              <a:rPr lang="en-US" sz="1200" dirty="0">
                <a:latin typeface="Arial" panose="020B0604020202020204" pitchFamily="34" charset="0"/>
                <a:cs typeface="Arial" panose="020B0604020202020204" pitchFamily="34" charset="0"/>
              </a:rPr>
              <a:t> una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batido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del gap entre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Podemos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que hay un </a:t>
            </a:r>
            <a:r>
              <a:rPr lang="en-US" sz="1200" dirty="0" err="1">
                <a:latin typeface="Arial" panose="020B0604020202020204" pitchFamily="34" charset="0"/>
                <a:cs typeface="Arial" panose="020B0604020202020204" pitchFamily="34" charset="0"/>
              </a:rPr>
              <a:t>aumento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exponencial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medida</a:t>
            </a:r>
            <a:r>
              <a:rPr lang="en-US" sz="1200" dirty="0">
                <a:latin typeface="Arial" panose="020B0604020202020204" pitchFamily="34" charset="0"/>
                <a:cs typeface="Arial" panose="020B0604020202020204" pitchFamily="34" charset="0"/>
              </a:rPr>
              <a:t> que se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gap,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que al </a:t>
            </a:r>
            <a:r>
              <a:rPr lang="en-US" sz="1200" dirty="0" err="1">
                <a:latin typeface="Arial" panose="020B0604020202020204" pitchFamily="34" charset="0"/>
                <a:cs typeface="Arial" panose="020B0604020202020204" pitchFamily="34" charset="0"/>
              </a:rPr>
              <a:t>estar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lejos</a:t>
            </a:r>
            <a:r>
              <a:rPr lang="en-US" sz="1200" dirty="0">
                <a:latin typeface="Arial" panose="020B0604020202020204" pitchFamily="34" charset="0"/>
                <a:cs typeface="Arial" panose="020B0604020202020204" pitchFamily="34" charset="0"/>
              </a:rPr>
              <a:t> una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intercambia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energía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estas</a:t>
            </a:r>
            <a:r>
              <a:rPr lang="en-US" sz="1200" dirty="0">
                <a:latin typeface="Arial" panose="020B0604020202020204" pitchFamily="34" charset="0"/>
                <a:cs typeface="Arial" panose="020B0604020202020204" pitchFamily="34" charset="0"/>
              </a:rPr>
              <a:t>, por lo que se </a:t>
            </a:r>
            <a:r>
              <a:rPr lang="en-US" sz="1200" dirty="0" err="1">
                <a:latin typeface="Arial" panose="020B0604020202020204" pitchFamily="34" charset="0"/>
                <a:cs typeface="Arial" panose="020B0604020202020204" pitchFamily="34" charset="0"/>
              </a:rPr>
              <a:t>necesita</a:t>
            </a:r>
            <a:r>
              <a:rPr lang="en-US" sz="1200" dirty="0">
                <a:latin typeface="Arial" panose="020B0604020202020204" pitchFamily="34" charset="0"/>
                <a:cs typeface="Arial" panose="020B0604020202020204" pitchFamily="34" charset="0"/>
              </a:rPr>
              <a:t> una longitude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grande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poder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la luz de una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No obstante, al </a:t>
            </a:r>
            <a:r>
              <a:rPr lang="en-US" sz="1200" dirty="0" err="1">
                <a:latin typeface="Arial" panose="020B0604020202020204" pitchFamily="34" charset="0"/>
                <a:cs typeface="Arial" panose="020B0604020202020204" pitchFamily="34" charset="0"/>
              </a:rPr>
              <a:t>hacer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dispositivo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largo, </a:t>
            </a:r>
            <a:r>
              <a:rPr lang="en-US" sz="1200" dirty="0" err="1">
                <a:latin typeface="Arial" panose="020B0604020202020204" pitchFamily="34" charset="0"/>
                <a:cs typeface="Arial" panose="020B0604020202020204" pitchFamily="34" charset="0"/>
              </a:rPr>
              <a:t>habrán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perdidas</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pic>
        <p:nvPicPr>
          <p:cNvPr id="6" name="Imagen 5">
            <a:extLst>
              <a:ext uri="{FF2B5EF4-FFF2-40B4-BE49-F238E27FC236}">
                <a16:creationId xmlns:a16="http://schemas.microsoft.com/office/drawing/2014/main" id="{F1D5D206-4269-46CA-AE98-83E2412ABD84}"/>
              </a:ext>
            </a:extLst>
          </p:cNvPr>
          <p:cNvPicPr>
            <a:picLocks noChangeAspect="1"/>
          </p:cNvPicPr>
          <p:nvPr/>
        </p:nvPicPr>
        <p:blipFill>
          <a:blip r:embed="rId5"/>
          <a:stretch>
            <a:fillRect/>
          </a:stretch>
        </p:blipFill>
        <p:spPr>
          <a:xfrm>
            <a:off x="4038600" y="1484265"/>
            <a:ext cx="4114800" cy="3227990"/>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3ED34-A14D-4A6E-B8F4-17FFD9B09985}"/>
              </a:ext>
            </a:extLst>
          </p:cNvPr>
          <p:cNvSpPr>
            <a:spLocks noGrp="1"/>
          </p:cNvSpPr>
          <p:nvPr>
            <p:ph type="title"/>
          </p:nvPr>
        </p:nvSpPr>
        <p:spPr/>
        <p:txBody>
          <a:bodyPr/>
          <a:lstStyle/>
          <a:p>
            <a:r>
              <a:rPr lang="es-ES" dirty="0" err="1"/>
              <a:t>Propagation</a:t>
            </a:r>
            <a:r>
              <a:rPr lang="es-ES" dirty="0"/>
              <a:t> </a:t>
            </a:r>
            <a:r>
              <a:rPr lang="es-ES" dirty="0" err="1"/>
              <a:t>plots</a:t>
            </a:r>
            <a:r>
              <a:rPr lang="es-ES" dirty="0"/>
              <a:t> </a:t>
            </a:r>
            <a:r>
              <a:rPr lang="es-ES" dirty="0" err="1"/>
              <a:t>for</a:t>
            </a:r>
            <a:r>
              <a:rPr lang="es-ES" dirty="0"/>
              <a:t> </a:t>
            </a:r>
            <a:r>
              <a:rPr lang="es-ES" dirty="0" err="1"/>
              <a:t>each</a:t>
            </a:r>
            <a:r>
              <a:rPr lang="es-ES" dirty="0"/>
              <a:t> gap </a:t>
            </a:r>
            <a:r>
              <a:rPr lang="es-ES" dirty="0" err="1"/>
              <a:t>between</a:t>
            </a:r>
            <a:r>
              <a:rPr lang="es-ES" dirty="0"/>
              <a:t> </a:t>
            </a:r>
            <a:r>
              <a:rPr lang="en-US" dirty="0"/>
              <a:t>0.6 - 1.6 µm (step 0.1 µm)</a:t>
            </a:r>
            <a:endParaRPr lang="es-ES" dirty="0"/>
          </a:p>
        </p:txBody>
      </p:sp>
      <p:sp>
        <p:nvSpPr>
          <p:cNvPr id="4" name="Marcador de pie de página 3">
            <a:extLst>
              <a:ext uri="{FF2B5EF4-FFF2-40B4-BE49-F238E27FC236}">
                <a16:creationId xmlns:a16="http://schemas.microsoft.com/office/drawing/2014/main" id="{9E771CBF-5C82-482D-923C-D4E6E77ECE0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0E895DD-4DDF-49D4-993B-E9F3D1EC9FFB}"/>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7" name="Imagen 6">
            <a:extLst>
              <a:ext uri="{FF2B5EF4-FFF2-40B4-BE49-F238E27FC236}">
                <a16:creationId xmlns:a16="http://schemas.microsoft.com/office/drawing/2014/main" id="{9B4A4D68-8EE2-4129-A570-C1FFFC38DAAF}"/>
              </a:ext>
            </a:extLst>
          </p:cNvPr>
          <p:cNvPicPr>
            <a:picLocks noChangeAspect="1"/>
          </p:cNvPicPr>
          <p:nvPr/>
        </p:nvPicPr>
        <p:blipFill>
          <a:blip r:embed="rId2"/>
          <a:stretch>
            <a:fillRect/>
          </a:stretch>
        </p:blipFill>
        <p:spPr>
          <a:xfrm>
            <a:off x="609599" y="838200"/>
            <a:ext cx="4341395" cy="1104126"/>
          </a:xfrm>
          <a:prstGeom prst="rect">
            <a:avLst/>
          </a:prstGeom>
        </p:spPr>
      </p:pic>
      <p:pic>
        <p:nvPicPr>
          <p:cNvPr id="8" name="Imagen 7">
            <a:extLst>
              <a:ext uri="{FF2B5EF4-FFF2-40B4-BE49-F238E27FC236}">
                <a16:creationId xmlns:a16="http://schemas.microsoft.com/office/drawing/2014/main" id="{F9668BE0-230A-4D72-8A9C-718E3034D8AC}"/>
              </a:ext>
            </a:extLst>
          </p:cNvPr>
          <p:cNvPicPr>
            <a:picLocks noChangeAspect="1"/>
          </p:cNvPicPr>
          <p:nvPr/>
        </p:nvPicPr>
        <p:blipFill>
          <a:blip r:embed="rId3"/>
          <a:stretch>
            <a:fillRect/>
          </a:stretch>
        </p:blipFill>
        <p:spPr>
          <a:xfrm>
            <a:off x="609593" y="1867477"/>
            <a:ext cx="4341401" cy="998973"/>
          </a:xfrm>
          <a:prstGeom prst="rect">
            <a:avLst/>
          </a:prstGeom>
        </p:spPr>
      </p:pic>
      <p:pic>
        <p:nvPicPr>
          <p:cNvPr id="10" name="Imagen 9">
            <a:extLst>
              <a:ext uri="{FF2B5EF4-FFF2-40B4-BE49-F238E27FC236}">
                <a16:creationId xmlns:a16="http://schemas.microsoft.com/office/drawing/2014/main" id="{1B391061-3F8E-4898-8597-8AEB14C95C33}"/>
              </a:ext>
            </a:extLst>
          </p:cNvPr>
          <p:cNvPicPr>
            <a:picLocks noChangeAspect="1"/>
          </p:cNvPicPr>
          <p:nvPr/>
        </p:nvPicPr>
        <p:blipFill>
          <a:blip r:embed="rId4"/>
          <a:stretch>
            <a:fillRect/>
          </a:stretch>
        </p:blipFill>
        <p:spPr>
          <a:xfrm>
            <a:off x="609593" y="2843823"/>
            <a:ext cx="4341401" cy="916351"/>
          </a:xfrm>
          <a:prstGeom prst="rect">
            <a:avLst/>
          </a:prstGeom>
        </p:spPr>
      </p:pic>
      <p:pic>
        <p:nvPicPr>
          <p:cNvPr id="12" name="Imagen 11">
            <a:extLst>
              <a:ext uri="{FF2B5EF4-FFF2-40B4-BE49-F238E27FC236}">
                <a16:creationId xmlns:a16="http://schemas.microsoft.com/office/drawing/2014/main" id="{52B3D118-9F8D-4E9A-8F0B-4AEB6C65063A}"/>
              </a:ext>
            </a:extLst>
          </p:cNvPr>
          <p:cNvPicPr>
            <a:picLocks noChangeAspect="1"/>
          </p:cNvPicPr>
          <p:nvPr/>
        </p:nvPicPr>
        <p:blipFill>
          <a:blip r:embed="rId5"/>
          <a:stretch>
            <a:fillRect/>
          </a:stretch>
        </p:blipFill>
        <p:spPr>
          <a:xfrm>
            <a:off x="609593" y="3756680"/>
            <a:ext cx="4341402" cy="856263"/>
          </a:xfrm>
          <a:prstGeom prst="rect">
            <a:avLst/>
          </a:prstGeom>
        </p:spPr>
      </p:pic>
      <p:pic>
        <p:nvPicPr>
          <p:cNvPr id="14" name="Imagen 13">
            <a:extLst>
              <a:ext uri="{FF2B5EF4-FFF2-40B4-BE49-F238E27FC236}">
                <a16:creationId xmlns:a16="http://schemas.microsoft.com/office/drawing/2014/main" id="{42910353-9139-4C23-952B-2AE127801635}"/>
              </a:ext>
            </a:extLst>
          </p:cNvPr>
          <p:cNvPicPr>
            <a:picLocks noChangeAspect="1"/>
          </p:cNvPicPr>
          <p:nvPr/>
        </p:nvPicPr>
        <p:blipFill>
          <a:blip r:embed="rId6"/>
          <a:stretch>
            <a:fillRect/>
          </a:stretch>
        </p:blipFill>
        <p:spPr>
          <a:xfrm>
            <a:off x="620172" y="4600717"/>
            <a:ext cx="4341401" cy="803685"/>
          </a:xfrm>
          <a:prstGeom prst="rect">
            <a:avLst/>
          </a:prstGeom>
        </p:spPr>
      </p:pic>
      <p:pic>
        <p:nvPicPr>
          <p:cNvPr id="16" name="Imagen 15">
            <a:extLst>
              <a:ext uri="{FF2B5EF4-FFF2-40B4-BE49-F238E27FC236}">
                <a16:creationId xmlns:a16="http://schemas.microsoft.com/office/drawing/2014/main" id="{1A4A0DD5-D810-4F77-B4E0-2979AB33D0B1}"/>
              </a:ext>
            </a:extLst>
          </p:cNvPr>
          <p:cNvPicPr>
            <a:picLocks noChangeAspect="1"/>
          </p:cNvPicPr>
          <p:nvPr/>
        </p:nvPicPr>
        <p:blipFill>
          <a:blip r:embed="rId7"/>
          <a:stretch>
            <a:fillRect/>
          </a:stretch>
        </p:blipFill>
        <p:spPr>
          <a:xfrm>
            <a:off x="599017" y="5401487"/>
            <a:ext cx="4341395" cy="766129"/>
          </a:xfrm>
          <a:prstGeom prst="rect">
            <a:avLst/>
          </a:prstGeom>
        </p:spPr>
      </p:pic>
      <p:pic>
        <p:nvPicPr>
          <p:cNvPr id="18" name="Imagen 17">
            <a:extLst>
              <a:ext uri="{FF2B5EF4-FFF2-40B4-BE49-F238E27FC236}">
                <a16:creationId xmlns:a16="http://schemas.microsoft.com/office/drawing/2014/main" id="{FE48C53E-1FE3-41C5-A922-9A22805A30FD}"/>
              </a:ext>
            </a:extLst>
          </p:cNvPr>
          <p:cNvPicPr>
            <a:picLocks noChangeAspect="1"/>
          </p:cNvPicPr>
          <p:nvPr/>
        </p:nvPicPr>
        <p:blipFill>
          <a:blip r:embed="rId8"/>
          <a:stretch>
            <a:fillRect/>
          </a:stretch>
        </p:blipFill>
        <p:spPr>
          <a:xfrm>
            <a:off x="5791200" y="838200"/>
            <a:ext cx="4341396" cy="736085"/>
          </a:xfrm>
          <a:prstGeom prst="rect">
            <a:avLst/>
          </a:prstGeom>
        </p:spPr>
      </p:pic>
      <p:pic>
        <p:nvPicPr>
          <p:cNvPr id="20" name="Imagen 19">
            <a:extLst>
              <a:ext uri="{FF2B5EF4-FFF2-40B4-BE49-F238E27FC236}">
                <a16:creationId xmlns:a16="http://schemas.microsoft.com/office/drawing/2014/main" id="{36E77304-8992-4F72-8D3E-D10C10C02EF2}"/>
              </a:ext>
            </a:extLst>
          </p:cNvPr>
          <p:cNvPicPr>
            <a:picLocks noChangeAspect="1"/>
          </p:cNvPicPr>
          <p:nvPr/>
        </p:nvPicPr>
        <p:blipFill>
          <a:blip r:embed="rId9"/>
          <a:stretch>
            <a:fillRect/>
          </a:stretch>
        </p:blipFill>
        <p:spPr>
          <a:xfrm>
            <a:off x="5791200" y="1577906"/>
            <a:ext cx="4341394" cy="713551"/>
          </a:xfrm>
          <a:prstGeom prst="rect">
            <a:avLst/>
          </a:prstGeom>
        </p:spPr>
      </p:pic>
      <p:pic>
        <p:nvPicPr>
          <p:cNvPr id="22" name="Imagen 21">
            <a:extLst>
              <a:ext uri="{FF2B5EF4-FFF2-40B4-BE49-F238E27FC236}">
                <a16:creationId xmlns:a16="http://schemas.microsoft.com/office/drawing/2014/main" id="{64294B9B-C3F9-4932-8522-139DA0BF0EAF}"/>
              </a:ext>
            </a:extLst>
          </p:cNvPr>
          <p:cNvPicPr>
            <a:picLocks noChangeAspect="1"/>
          </p:cNvPicPr>
          <p:nvPr/>
        </p:nvPicPr>
        <p:blipFill>
          <a:blip r:embed="rId10"/>
          <a:stretch>
            <a:fillRect/>
          </a:stretch>
        </p:blipFill>
        <p:spPr>
          <a:xfrm>
            <a:off x="5791200" y="2291457"/>
            <a:ext cx="4341399" cy="691018"/>
          </a:xfrm>
          <a:prstGeom prst="rect">
            <a:avLst/>
          </a:prstGeom>
        </p:spPr>
      </p:pic>
      <p:pic>
        <p:nvPicPr>
          <p:cNvPr id="24" name="Imagen 23">
            <a:extLst>
              <a:ext uri="{FF2B5EF4-FFF2-40B4-BE49-F238E27FC236}">
                <a16:creationId xmlns:a16="http://schemas.microsoft.com/office/drawing/2014/main" id="{8A7977DA-AD60-4E68-B777-A03669F1B05F}"/>
              </a:ext>
            </a:extLst>
          </p:cNvPr>
          <p:cNvPicPr>
            <a:picLocks noChangeAspect="1"/>
          </p:cNvPicPr>
          <p:nvPr/>
        </p:nvPicPr>
        <p:blipFill>
          <a:blip r:embed="rId11"/>
          <a:stretch>
            <a:fillRect/>
          </a:stretch>
        </p:blipFill>
        <p:spPr>
          <a:xfrm>
            <a:off x="5791200" y="2982475"/>
            <a:ext cx="4341395" cy="683507"/>
          </a:xfrm>
          <a:prstGeom prst="rect">
            <a:avLst/>
          </a:prstGeom>
        </p:spPr>
      </p:pic>
      <p:pic>
        <p:nvPicPr>
          <p:cNvPr id="26" name="Imagen 25">
            <a:extLst>
              <a:ext uri="{FF2B5EF4-FFF2-40B4-BE49-F238E27FC236}">
                <a16:creationId xmlns:a16="http://schemas.microsoft.com/office/drawing/2014/main" id="{3A84F086-2E10-48CA-9408-1A0AC3EAD974}"/>
              </a:ext>
            </a:extLst>
          </p:cNvPr>
          <p:cNvPicPr>
            <a:picLocks noChangeAspect="1"/>
          </p:cNvPicPr>
          <p:nvPr/>
        </p:nvPicPr>
        <p:blipFill>
          <a:blip r:embed="rId12"/>
          <a:stretch>
            <a:fillRect/>
          </a:stretch>
        </p:blipFill>
        <p:spPr>
          <a:xfrm>
            <a:off x="5791200" y="3661119"/>
            <a:ext cx="4341395" cy="668485"/>
          </a:xfrm>
          <a:prstGeom prst="rect">
            <a:avLst/>
          </a:prstGeom>
        </p:spPr>
      </p:pic>
    </p:spTree>
    <p:extLst>
      <p:ext uri="{BB962C8B-B14F-4D97-AF65-F5344CB8AC3E}">
        <p14:creationId xmlns:p14="http://schemas.microsoft.com/office/powerpoint/2010/main" val="259143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texto 2">
                <a:extLst>
                  <a:ext uri="{FF2B5EF4-FFF2-40B4-BE49-F238E27FC236}">
                    <a16:creationId xmlns:a16="http://schemas.microsoft.com/office/drawing/2014/main" id="{CD487952-61B3-4138-AE5F-0D2D4DE512AA}"/>
                  </a:ext>
                </a:extLst>
              </p:cNvPr>
              <p:cNvSpPr>
                <a:spLocks noGrp="1"/>
              </p:cNvSpPr>
              <p:nvPr>
                <p:ph type="body" idx="1"/>
              </p:nvPr>
            </p:nvSpPr>
            <p:spPr>
              <a:xfrm>
                <a:off x="5486400" y="2209800"/>
                <a:ext cx="6096000" cy="1938992"/>
              </a:xfrm>
            </p:spPr>
            <p:txBody>
              <a:bodyPr/>
              <a:lstStyle/>
              <a:p>
                <a:r>
                  <a:rPr lang="es-ES" sz="1400" dirty="0"/>
                  <a:t>Para determinar la separación mínima que garantiza un comportamiento de guías desacopladas, se ha evaluado el coeficiente de acoplamiento (K) en función del gap para una longitud de propagación paralela de 10 mm (típica de un chip). La gráfica muestra un comportamiento oscilatorio, lo cual es de esperar, ya que al variar el gap se modifica exponencialmente la longitud de batido (</a:t>
                </a:r>
                <a14:m>
                  <m:oMath xmlns:m="http://schemas.openxmlformats.org/officeDocument/2006/math">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𝐿</m:t>
                        </m:r>
                      </m:e>
                      <m:sub>
                        <m:r>
                          <a:rPr lang="es-ES" sz="1400" i="1" dirty="0" smtClean="0">
                            <a:latin typeface="Cambria Math" panose="02040503050406030204" pitchFamily="18" charset="0"/>
                          </a:rPr>
                          <m:t>𝜋</m:t>
                        </m:r>
                      </m:sub>
                    </m:sSub>
                  </m:oMath>
                </a14:m>
                <a:r>
                  <a:rPr lang="es-ES" sz="1400" dirty="0"/>
                  <a:t>) y, con ello, los ciclos de transferencia de potencia en esa distancia fija. De acuerdo con el criterio de diseño establecido (K &lt; 0.01), el barrido revela que un gap de 1.4 µm es el valor mínimo donde la transferencia de potencia cruzada se anula prácticamente por completo.</a:t>
                </a:r>
              </a:p>
            </p:txBody>
          </p:sp>
        </mc:Choice>
        <mc:Fallback>
          <p:sp>
            <p:nvSpPr>
              <p:cNvPr id="3" name="Marcador de texto 2">
                <a:extLst>
                  <a:ext uri="{FF2B5EF4-FFF2-40B4-BE49-F238E27FC236}">
                    <a16:creationId xmlns:a16="http://schemas.microsoft.com/office/drawing/2014/main" id="{CD487952-61B3-4138-AE5F-0D2D4DE512AA}"/>
                  </a:ext>
                </a:extLst>
              </p:cNvPr>
              <p:cNvSpPr>
                <a:spLocks noGrp="1" noRot="1" noChangeAspect="1" noMove="1" noResize="1" noEditPoints="1" noAdjustHandles="1" noChangeArrowheads="1" noChangeShapeType="1" noTextEdit="1"/>
              </p:cNvSpPr>
              <p:nvPr>
                <p:ph type="body" idx="1"/>
              </p:nvPr>
            </p:nvSpPr>
            <p:spPr>
              <a:xfrm>
                <a:off x="5486400" y="2209800"/>
                <a:ext cx="6096000" cy="1938992"/>
              </a:xfrm>
              <a:blipFill>
                <a:blip r:embed="rId2"/>
                <a:stretch>
                  <a:fillRect l="-1800" t="-3145" r="-1200" b="-4403"/>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5E1CA6BD-B57D-4AD6-8336-D629B327A57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9ACEB1E-457F-4EA2-91AF-EBB4680E00B3}"/>
              </a:ext>
            </a:extLst>
          </p:cNvPr>
          <p:cNvSpPr>
            <a:spLocks noGrp="1"/>
          </p:cNvSpPr>
          <p:nvPr>
            <p:ph type="sldNum" sz="quarter" idx="7"/>
          </p:nvPr>
        </p:nvSpPr>
        <p:spPr/>
        <p:txBody>
          <a:bodyPr/>
          <a:lstStyle/>
          <a:p>
            <a:fld id="{B6F15528-21DE-4FAA-801E-634DDDAF4B2B}" type="slidenum">
              <a:rPr lang="es-ES" smtClean="0"/>
              <a:t>8</a:t>
            </a:fld>
            <a:endParaRPr lang="es-ES"/>
          </a:p>
        </p:txBody>
      </p:sp>
      <p:pic>
        <p:nvPicPr>
          <p:cNvPr id="7" name="Imagen 6">
            <a:extLst>
              <a:ext uri="{FF2B5EF4-FFF2-40B4-BE49-F238E27FC236}">
                <a16:creationId xmlns:a16="http://schemas.microsoft.com/office/drawing/2014/main" id="{18A6A17D-5754-424B-B56F-8190906AB1D5}"/>
              </a:ext>
            </a:extLst>
          </p:cNvPr>
          <p:cNvPicPr>
            <a:picLocks noChangeAspect="1"/>
          </p:cNvPicPr>
          <p:nvPr/>
        </p:nvPicPr>
        <p:blipFill>
          <a:blip r:embed="rId3"/>
          <a:stretch>
            <a:fillRect/>
          </a:stretch>
        </p:blipFill>
        <p:spPr>
          <a:xfrm>
            <a:off x="304800" y="1371600"/>
            <a:ext cx="4681538" cy="3756790"/>
          </a:xfrm>
          <a:prstGeom prst="rect">
            <a:avLst/>
          </a:prstGeom>
        </p:spPr>
      </p:pic>
      <p:sp>
        <p:nvSpPr>
          <p:cNvPr id="8" name="Título 1">
            <a:extLst>
              <a:ext uri="{FF2B5EF4-FFF2-40B4-BE49-F238E27FC236}">
                <a16:creationId xmlns:a16="http://schemas.microsoft.com/office/drawing/2014/main" id="{720815DB-2A59-4C2F-A98A-6A79ED96FF03}"/>
              </a:ext>
            </a:extLst>
          </p:cNvPr>
          <p:cNvSpPr>
            <a:spLocks noGrp="1"/>
          </p:cNvSpPr>
          <p:nvPr>
            <p:ph type="title"/>
          </p:nvPr>
        </p:nvSpPr>
        <p:spPr>
          <a:xfrm>
            <a:off x="590550" y="206375"/>
            <a:ext cx="10991850" cy="307975"/>
          </a:xfrm>
        </p:spPr>
        <p:txBody>
          <a:bodyPr/>
          <a:lstStyle/>
          <a:p>
            <a:r>
              <a:rPr lang="es-ES" dirty="0"/>
              <a:t>Resolución </a:t>
            </a:r>
            <a:r>
              <a:rPr lang="en-US" sz="2000" dirty="0"/>
              <a:t>Learning outcome #</a:t>
            </a:r>
            <a:r>
              <a:rPr lang="en-US" dirty="0"/>
              <a:t>3</a:t>
            </a:r>
            <a:endParaRPr lang="es-ES" dirty="0"/>
          </a:p>
        </p:txBody>
      </p:sp>
    </p:spTree>
    <p:extLst>
      <p:ext uri="{BB962C8B-B14F-4D97-AF65-F5344CB8AC3E}">
        <p14:creationId xmlns:p14="http://schemas.microsoft.com/office/powerpoint/2010/main" val="97183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9EE04-608E-4B8E-B687-7B8B2C35C0E6}"/>
              </a:ext>
            </a:extLst>
          </p:cNvPr>
          <p:cNvSpPr>
            <a:spLocks noGrp="1"/>
          </p:cNvSpPr>
          <p:nvPr>
            <p:ph type="title"/>
          </p:nvPr>
        </p:nvSpPr>
        <p:spPr/>
        <p:txBody>
          <a:bodyPr/>
          <a:lstStyle/>
          <a:p>
            <a:r>
              <a:rPr lang="es-ES" dirty="0"/>
              <a:t>Resolución </a:t>
            </a:r>
            <a:r>
              <a:rPr lang="en-US" sz="2000" dirty="0"/>
              <a:t>Learning outcome #4.1</a:t>
            </a:r>
            <a:endParaRPr lang="es-ES" dirty="0"/>
          </a:p>
        </p:txBody>
      </p:sp>
      <mc:AlternateContent xmlns:mc="http://schemas.openxmlformats.org/markup-compatibility/2006" xmlns:a14="http://schemas.microsoft.com/office/drawing/2010/main">
        <mc:Choice Requires="a14">
          <p:sp>
            <p:nvSpPr>
              <p:cNvPr id="3" name="Marcador de texto 2">
                <a:extLst>
                  <a:ext uri="{FF2B5EF4-FFF2-40B4-BE49-F238E27FC236}">
                    <a16:creationId xmlns:a16="http://schemas.microsoft.com/office/drawing/2014/main" id="{F25E8729-3742-4527-A81D-59CD52779EE7}"/>
                  </a:ext>
                </a:extLst>
              </p:cNvPr>
              <p:cNvSpPr>
                <a:spLocks noGrp="1"/>
              </p:cNvSpPr>
              <p:nvPr>
                <p:ph type="body" idx="1"/>
              </p:nvPr>
            </p:nvSpPr>
            <p:spPr>
              <a:xfrm>
                <a:off x="556683" y="4639323"/>
                <a:ext cx="10972800" cy="1369286"/>
              </a:xfrm>
            </p:spPr>
            <p:txBody>
              <a:bodyPr/>
              <a:lstStyle/>
              <a:p>
                <a:pPr algn="just"/>
                <a:r>
                  <a:rPr lang="es-ES" sz="1200" dirty="0">
                    <a:latin typeface="Arial" panose="020B0604020202020204" pitchFamily="34" charset="0"/>
                    <a:cs typeface="Arial" panose="020B0604020202020204" pitchFamily="34" charset="0"/>
                  </a:rPr>
                  <a:t>Para obtener este acoplador MMI 2x2, se ha calculado primero la longitud de batido del dispositivo (</a:t>
                </a:r>
                <a14:m>
                  <m:oMath xmlns:m="http://schemas.openxmlformats.org/officeDocument/2006/math">
                    <m:sSub>
                      <m:sSubPr>
                        <m:ctrlPr>
                          <a:rPr lang="es-ES" sz="1200" i="1" dirty="0" smtClean="0">
                            <a:latin typeface="Cambria Math" panose="02040503050406030204" pitchFamily="18" charset="0"/>
                            <a:cs typeface="Arial" panose="020B0604020202020204" pitchFamily="34" charset="0"/>
                          </a:rPr>
                        </m:ctrlPr>
                      </m:sSubPr>
                      <m:e>
                        <m:r>
                          <a:rPr lang="es-ES" sz="1200" i="1" dirty="0" smtClean="0">
                            <a:latin typeface="Cambria Math" panose="02040503050406030204" pitchFamily="18" charset="0"/>
                            <a:cs typeface="Arial" panose="020B0604020202020204" pitchFamily="34" charset="0"/>
                          </a:rPr>
                          <m:t>𝐿</m:t>
                        </m:r>
                      </m:e>
                      <m:sub>
                        <m:r>
                          <a:rPr lang="es-ES" sz="1200" i="1" dirty="0" smtClean="0">
                            <a:latin typeface="Cambria Math" panose="02040503050406030204" pitchFamily="18" charset="0"/>
                            <a:cs typeface="Arial" panose="020B0604020202020204" pitchFamily="34" charset="0"/>
                          </a:rPr>
                          <m:t>𝜋</m:t>
                        </m:r>
                      </m:sub>
                    </m:sSub>
                    <m:r>
                      <a:rPr lang="es-ES" sz="1200" b="0" i="1" dirty="0" smtClean="0">
                        <a:latin typeface="Cambria Math" panose="02040503050406030204" pitchFamily="18" charset="0"/>
                        <a:cs typeface="Arial" panose="020B0604020202020204" pitchFamily="34" charset="0"/>
                      </a:rPr>
                      <m:t>=</m:t>
                    </m:r>
                    <m:r>
                      <a:rPr lang="es-ES" sz="1200" i="1" dirty="0" smtClean="0">
                        <a:latin typeface="Cambria Math" panose="02040503050406030204" pitchFamily="18" charset="0"/>
                        <a:cs typeface="Arial" panose="020B0604020202020204" pitchFamily="34" charset="0"/>
                      </a:rPr>
                      <m:t>69.</m:t>
                    </m:r>
                  </m:oMath>
                </a14:m>
                <a:r>
                  <a:rPr lang="en-US" sz="1200" dirty="0">
                    <a:latin typeface="Arial" panose="020B0604020202020204" pitchFamily="34" charset="0"/>
                    <a:cs typeface="Arial" panose="020B0604020202020204" pitchFamily="34" charset="0"/>
                  </a:rPr>
                  <a:t>035986 </a:t>
                </a:r>
                <a:r>
                  <a:rPr lang="es-ES" sz="1200" dirty="0">
                    <a:latin typeface="Arial" panose="020B0604020202020204" pitchFamily="34" charset="0"/>
                    <a:cs typeface="Arial" panose="020B0604020202020204" pitchFamily="34" charset="0"/>
                  </a:rPr>
                  <a:t>µm) y se ha fijado su longitud total en </a:t>
                </a:r>
                <a14:m>
                  <m:oMath xmlns:m="http://schemas.openxmlformats.org/officeDocument/2006/math">
                    <m:f>
                      <m:fPr>
                        <m:ctrlPr>
                          <a:rPr lang="es-ES" sz="1200" i="1" dirty="0" smtClean="0">
                            <a:latin typeface="Cambria Math" panose="02040503050406030204" pitchFamily="18" charset="0"/>
                            <a:cs typeface="Arial" panose="020B0604020202020204" pitchFamily="34" charset="0"/>
                          </a:rPr>
                        </m:ctrlPr>
                      </m:fPr>
                      <m:num>
                        <m:sSub>
                          <m:sSubPr>
                            <m:ctrlPr>
                              <a:rPr lang="es-ES" sz="1200" i="1" dirty="0" smtClean="0">
                                <a:latin typeface="Cambria Math" panose="02040503050406030204" pitchFamily="18" charset="0"/>
                                <a:cs typeface="Arial" panose="020B0604020202020204" pitchFamily="34" charset="0"/>
                              </a:rPr>
                            </m:ctrlPr>
                          </m:sSubPr>
                          <m:e>
                            <m:r>
                              <a:rPr lang="es-ES" sz="1200" i="1" dirty="0" smtClean="0">
                                <a:latin typeface="Cambria Math" panose="02040503050406030204" pitchFamily="18" charset="0"/>
                                <a:cs typeface="Arial" panose="020B0604020202020204" pitchFamily="34" charset="0"/>
                              </a:rPr>
                              <m:t>𝐿</m:t>
                            </m:r>
                          </m:e>
                          <m:sub>
                            <m:r>
                              <a:rPr lang="es-ES" sz="1200" i="1" dirty="0" smtClean="0">
                                <a:latin typeface="Cambria Math" panose="02040503050406030204" pitchFamily="18" charset="0"/>
                                <a:cs typeface="Arial" panose="020B0604020202020204" pitchFamily="34" charset="0"/>
                              </a:rPr>
                              <m:t>𝜋</m:t>
                            </m:r>
                          </m:sub>
                        </m:sSub>
                      </m:num>
                      <m:den>
                        <m:r>
                          <a:rPr lang="es-ES" sz="1200" i="1" dirty="0" smtClean="0">
                            <a:latin typeface="Cambria Math" panose="02040503050406030204" pitchFamily="18" charset="0"/>
                            <a:cs typeface="Arial" panose="020B0604020202020204" pitchFamily="34" charset="0"/>
                          </a:rPr>
                          <m:t>2</m:t>
                        </m:r>
                      </m:den>
                    </m:f>
                  </m:oMath>
                </a14:m>
                <a:r>
                  <a:rPr lang="es-ES" sz="1200" dirty="0">
                    <a:latin typeface="Arial" panose="020B0604020202020204" pitchFamily="34" charset="0"/>
                    <a:cs typeface="Arial" panose="020B0604020202020204" pitchFamily="34" charset="0"/>
                  </a:rPr>
                  <a:t> (34.52 µm) basándose en el principio de autoimagen. Los resultados muestran una relación de acoplamiento casi ideal, dividiendo la potencia de forma muy equilibrada (ratio 0.51/0.48), con unas pérdidas por exceso de 0.42 dB justificadas por la transición abrupta de las guías de acceso sin optimizar.</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Frente a un acoplador direccional tradicional, que es extremadamente sensible a pequeñas variaciones de fabricación en el gap o en la longitud de interacción, este diseño MMI resulta mucho más robusto, tolerante a errores litográficos y ofrece un mayor ancho de banda óptico, compensando así sus pérdidas de inserción iniciales.</a:t>
                </a:r>
                <a:endParaRPr lang="en-US" sz="1200" dirty="0">
                  <a:latin typeface="Arial" panose="020B0604020202020204" pitchFamily="34" charset="0"/>
                  <a:cs typeface="Arial" panose="020B0604020202020204" pitchFamily="34" charset="0"/>
                </a:endParaRPr>
              </a:p>
            </p:txBody>
          </p:sp>
        </mc:Choice>
        <mc:Fallback xmlns="">
          <p:sp>
            <p:nvSpPr>
              <p:cNvPr id="3" name="Marcador de texto 2">
                <a:extLst>
                  <a:ext uri="{FF2B5EF4-FFF2-40B4-BE49-F238E27FC236}">
                    <a16:creationId xmlns:a16="http://schemas.microsoft.com/office/drawing/2014/main" id="{F25E8729-3742-4527-A81D-59CD52779EE7}"/>
                  </a:ext>
                </a:extLst>
              </p:cNvPr>
              <p:cNvSpPr>
                <a:spLocks noGrp="1" noRot="1" noChangeAspect="1" noMove="1" noResize="1" noEditPoints="1" noAdjustHandles="1" noChangeArrowheads="1" noChangeShapeType="1" noTextEdit="1"/>
              </p:cNvSpPr>
              <p:nvPr>
                <p:ph type="body" idx="1"/>
              </p:nvPr>
            </p:nvSpPr>
            <p:spPr>
              <a:xfrm>
                <a:off x="556683" y="4639323"/>
                <a:ext cx="10972800" cy="1369286"/>
              </a:xfrm>
              <a:blipFill>
                <a:blip r:embed="rId2"/>
                <a:stretch>
                  <a:fillRect l="-833" t="-1333" r="-889" b="-5778"/>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C5EDBD82-056D-4F51-8607-3FBE8F0A5BD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95826EC4-A33C-4520-ACF7-D0FDE25B9487}"/>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8" name="Imagen 7">
            <a:extLst>
              <a:ext uri="{FF2B5EF4-FFF2-40B4-BE49-F238E27FC236}">
                <a16:creationId xmlns:a16="http://schemas.microsoft.com/office/drawing/2014/main" id="{5BC26979-82C0-4EB5-AD48-BD143A125583}"/>
              </a:ext>
            </a:extLst>
          </p:cNvPr>
          <p:cNvPicPr>
            <a:picLocks noChangeAspect="1"/>
          </p:cNvPicPr>
          <p:nvPr/>
        </p:nvPicPr>
        <p:blipFill>
          <a:blip r:embed="rId3"/>
          <a:stretch>
            <a:fillRect/>
          </a:stretch>
        </p:blipFill>
        <p:spPr>
          <a:xfrm>
            <a:off x="3810000" y="974064"/>
            <a:ext cx="3995888" cy="3295928"/>
          </a:xfrm>
          <a:prstGeom prst="rect">
            <a:avLst/>
          </a:prstGeom>
        </p:spPr>
      </p:pic>
    </p:spTree>
    <p:extLst>
      <p:ext uri="{BB962C8B-B14F-4D97-AF65-F5344CB8AC3E}">
        <p14:creationId xmlns:p14="http://schemas.microsoft.com/office/powerpoint/2010/main" val="2443045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200329"/>
          </a:xfrm>
          <a:prstGeom prst="rect">
            <a:avLst/>
          </a:prstGeom>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9EE04-608E-4B8E-B687-7B8B2C35C0E6}"/>
              </a:ext>
            </a:extLst>
          </p:cNvPr>
          <p:cNvSpPr>
            <a:spLocks noGrp="1"/>
          </p:cNvSpPr>
          <p:nvPr>
            <p:ph type="title"/>
          </p:nvPr>
        </p:nvSpPr>
        <p:spPr/>
        <p:txBody>
          <a:bodyPr/>
          <a:lstStyle/>
          <a:p>
            <a:r>
              <a:rPr lang="es-ES" dirty="0"/>
              <a:t>Resolución </a:t>
            </a:r>
            <a:r>
              <a:rPr lang="en-US" sz="2000" dirty="0"/>
              <a:t>Learning outcome #4.2</a:t>
            </a:r>
            <a:endParaRPr lang="es-ES" dirty="0"/>
          </a:p>
        </p:txBody>
      </p:sp>
      <p:sp>
        <p:nvSpPr>
          <p:cNvPr id="3" name="Marcador de texto 2">
            <a:extLst>
              <a:ext uri="{FF2B5EF4-FFF2-40B4-BE49-F238E27FC236}">
                <a16:creationId xmlns:a16="http://schemas.microsoft.com/office/drawing/2014/main" id="{F25E8729-3742-4527-A81D-59CD52779EE7}"/>
              </a:ext>
            </a:extLst>
          </p:cNvPr>
          <p:cNvSpPr>
            <a:spLocks noGrp="1"/>
          </p:cNvSpPr>
          <p:nvPr>
            <p:ph type="body" idx="1"/>
          </p:nvPr>
        </p:nvSpPr>
        <p:spPr>
          <a:xfrm>
            <a:off x="590550" y="4788574"/>
            <a:ext cx="10972800" cy="1292662"/>
          </a:xfrm>
        </p:spPr>
        <p:txBody>
          <a:bodyPr/>
          <a:lstStyle/>
          <a:p>
            <a:r>
              <a:rPr lang="es-ES" sz="1200" dirty="0">
                <a:latin typeface="Arial" panose="020B0604020202020204" pitchFamily="34" charset="0"/>
                <a:cs typeface="Arial" panose="020B0604020202020204" pitchFamily="34" charset="0"/>
              </a:rPr>
              <a:t>Para optimizar el rendimiento del acoplador MMI 2x2, se ha realizado un ajuste manual iterativo de su geometría. Por un lado, se ha acortado ligeramente su longitud teórica (</a:t>
            </a:r>
            <a:r>
              <a:rPr lang="es-ES" sz="1200" dirty="0" err="1">
                <a:latin typeface="Arial" panose="020B0604020202020204" pitchFamily="34" charset="0"/>
                <a:cs typeface="Arial" panose="020B0604020202020204" pitchFamily="34" charset="0"/>
              </a:rPr>
              <a:t>dL_MMI</a:t>
            </a:r>
            <a:r>
              <a:rPr lang="es-ES" sz="1200" dirty="0">
                <a:latin typeface="Arial" panose="020B0604020202020204" pitchFamily="34" charset="0"/>
                <a:cs typeface="Arial" panose="020B0604020202020204" pitchFamily="34" charset="0"/>
              </a:rPr>
              <a:t> = -0.4 µm) y, por otro, se han desplazado transversalmente las guías de entrada y salida (</a:t>
            </a:r>
            <a:r>
              <a:rPr lang="es-ES" sz="1200" dirty="0" err="1">
                <a:latin typeface="Arial" panose="020B0604020202020204" pitchFamily="34" charset="0"/>
                <a:cs typeface="Arial" panose="020B0604020202020204" pitchFamily="34" charset="0"/>
              </a:rPr>
              <a:t>dy</a:t>
            </a:r>
            <a:r>
              <a:rPr lang="es-ES" sz="1200" dirty="0">
                <a:latin typeface="Arial" panose="020B0604020202020204" pitchFamily="34" charset="0"/>
                <a:cs typeface="Arial" panose="020B0604020202020204" pitchFamily="34" charset="0"/>
              </a:rPr>
              <a:t> = 0.05 µm) para alinearlas con mayor precisión sobre los máximos reales del patrón de interferencia.</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Gracias a esta corrección espacial, se ha mejorado la captura de luz en los puertos, logrando minimizar las pérdidas por exceso hasta 0.3429 dB. Simultáneamente, se ha cumplido el objetivo principal de equilibrar el dispositivo, obteniendo una división de potencia casi perfectamente simétrica en las ramas de salida (ratio de 0.508 / 0.492).</a:t>
            </a:r>
          </a:p>
        </p:txBody>
      </p:sp>
      <p:sp>
        <p:nvSpPr>
          <p:cNvPr id="4" name="Marcador de pie de página 3">
            <a:extLst>
              <a:ext uri="{FF2B5EF4-FFF2-40B4-BE49-F238E27FC236}">
                <a16:creationId xmlns:a16="http://schemas.microsoft.com/office/drawing/2014/main" id="{C5EDBD82-056D-4F51-8607-3FBE8F0A5BD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95826EC4-A33C-4520-ACF7-D0FDE25B9487}"/>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6" name="Imagen 5">
            <a:extLst>
              <a:ext uri="{FF2B5EF4-FFF2-40B4-BE49-F238E27FC236}">
                <a16:creationId xmlns:a16="http://schemas.microsoft.com/office/drawing/2014/main" id="{46DEF932-7029-4E49-B61A-86DCDEED6915}"/>
              </a:ext>
            </a:extLst>
          </p:cNvPr>
          <p:cNvPicPr>
            <a:picLocks noChangeAspect="1"/>
          </p:cNvPicPr>
          <p:nvPr/>
        </p:nvPicPr>
        <p:blipFill>
          <a:blip r:embed="rId2"/>
          <a:stretch>
            <a:fillRect/>
          </a:stretch>
        </p:blipFill>
        <p:spPr>
          <a:xfrm>
            <a:off x="838200" y="1406461"/>
            <a:ext cx="3124200" cy="2888411"/>
          </a:xfrm>
          <a:prstGeom prst="rect">
            <a:avLst/>
          </a:prstGeom>
        </p:spPr>
      </p:pic>
      <p:pic>
        <p:nvPicPr>
          <p:cNvPr id="7" name="Imagen 6">
            <a:extLst>
              <a:ext uri="{FF2B5EF4-FFF2-40B4-BE49-F238E27FC236}">
                <a16:creationId xmlns:a16="http://schemas.microsoft.com/office/drawing/2014/main" id="{770355A5-07CC-4DA4-A363-7EB159DF0A29}"/>
              </a:ext>
            </a:extLst>
          </p:cNvPr>
          <p:cNvPicPr>
            <a:picLocks noChangeAspect="1"/>
          </p:cNvPicPr>
          <p:nvPr/>
        </p:nvPicPr>
        <p:blipFill>
          <a:blip r:embed="rId3"/>
          <a:stretch>
            <a:fillRect/>
          </a:stretch>
        </p:blipFill>
        <p:spPr>
          <a:xfrm>
            <a:off x="5029200" y="1726585"/>
            <a:ext cx="5725549" cy="2371289"/>
          </a:xfrm>
          <a:prstGeom prst="rect">
            <a:avLst/>
          </a:prstGeom>
        </p:spPr>
      </p:pic>
    </p:spTree>
    <p:extLst>
      <p:ext uri="{BB962C8B-B14F-4D97-AF65-F5344CB8AC3E}">
        <p14:creationId xmlns:p14="http://schemas.microsoft.com/office/powerpoint/2010/main" val="1714004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BFB6762D-51C9-4DF7-8526-BF131C202C48}"/>
              </a:ext>
            </a:extLst>
          </p:cNvPr>
          <p:cNvSpPr>
            <a:spLocks noGrp="1"/>
          </p:cNvSpPr>
          <p:nvPr>
            <p:ph type="body" idx="1"/>
          </p:nvPr>
        </p:nvSpPr>
        <p:spPr>
          <a:xfrm>
            <a:off x="4876800" y="3180037"/>
            <a:ext cx="6705600" cy="2585323"/>
          </a:xfrm>
        </p:spPr>
        <p:txBody>
          <a:bodyPr/>
          <a:lstStyle/>
          <a:p>
            <a:r>
              <a:rPr lang="es-ES" sz="1200" dirty="0"/>
              <a:t>Los resultados del barrido paramétrico muestran que el acoplador MMI cumple satisfactoriamente con las especificaciones. Desde el primer incremento de 0.6 µm en el ancho de las guías de acceso, las pérdidas por exceso caen a 0.096 dB (por debajo del límite exigido de 0.1 dB), manteniendo en todo momento una relación de división de potencia muy equilibrada y cercana a 0.5 en los puertos de salida.</a:t>
            </a:r>
          </a:p>
          <a:p>
            <a:endParaRPr lang="es-ES" sz="1200" dirty="0"/>
          </a:p>
          <a:p>
            <a:r>
              <a:rPr lang="es-ES" sz="1200" dirty="0"/>
              <a:t>Al ensanchar progresivamente estas guías de entrada y salida, la adaptación modal hacia la región multimodo es mucho más suave, lo que reduce drásticamente las pérdidas. Un incremento en torno a 1.0 µm destaca como un punto de operación óptimo, ya que minimiza las pérdidas por exceso a tan solo 0.015 dB sin apenas penalizar el balance entre las ramas.</a:t>
            </a:r>
          </a:p>
          <a:p>
            <a:endParaRPr lang="es-ES" sz="1200" dirty="0"/>
          </a:p>
          <a:p>
            <a:r>
              <a:rPr lang="es-ES" sz="1200" dirty="0"/>
              <a:t>Finalmente, para los ensanchamientos mayores (1.3 µm y 1.4 µm), el simulador nos da valores de pérdidas negativos. Al tratarse de un componente pasivo, esto representa un artefacto numérico propio del método de simulación, lo que simplemente nos indica que en esas geometrías las pérdidas reales son virtualmente nulas. </a:t>
            </a:r>
          </a:p>
        </p:txBody>
      </p:sp>
      <p:sp>
        <p:nvSpPr>
          <p:cNvPr id="4" name="Marcador de pie de página 3">
            <a:extLst>
              <a:ext uri="{FF2B5EF4-FFF2-40B4-BE49-F238E27FC236}">
                <a16:creationId xmlns:a16="http://schemas.microsoft.com/office/drawing/2014/main" id="{E07B3D63-2EED-4E27-88FB-3CC136D9602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2E76897-0BB8-4599-ACBE-09BF1E5765CE}"/>
              </a:ext>
            </a:extLst>
          </p:cNvPr>
          <p:cNvSpPr>
            <a:spLocks noGrp="1"/>
          </p:cNvSpPr>
          <p:nvPr>
            <p:ph type="sldNum" sz="quarter" idx="7"/>
          </p:nvPr>
        </p:nvSpPr>
        <p:spPr/>
        <p:txBody>
          <a:bodyPr/>
          <a:lstStyle/>
          <a:p>
            <a:fld id="{B6F15528-21DE-4FAA-801E-634DDDAF4B2B}" type="slidenum">
              <a:rPr lang="es-ES" smtClean="0"/>
              <a:t>15</a:t>
            </a:fld>
            <a:endParaRPr lang="es-ES"/>
          </a:p>
        </p:txBody>
      </p:sp>
      <p:graphicFrame>
        <p:nvGraphicFramePr>
          <p:cNvPr id="6" name="Tabla 5">
            <a:extLst>
              <a:ext uri="{FF2B5EF4-FFF2-40B4-BE49-F238E27FC236}">
                <a16:creationId xmlns:a16="http://schemas.microsoft.com/office/drawing/2014/main" id="{FA1FA2A7-EB5E-4E49-B3C3-269F67776732}"/>
              </a:ext>
            </a:extLst>
          </p:cNvPr>
          <p:cNvGraphicFramePr>
            <a:graphicFrameLocks noGrp="1"/>
          </p:cNvGraphicFramePr>
          <p:nvPr>
            <p:extLst>
              <p:ext uri="{D42A27DB-BD31-4B8C-83A1-F6EECF244321}">
                <p14:modId xmlns:p14="http://schemas.microsoft.com/office/powerpoint/2010/main" val="781047502"/>
              </p:ext>
            </p:extLst>
          </p:nvPr>
        </p:nvGraphicFramePr>
        <p:xfrm>
          <a:off x="609600" y="1371600"/>
          <a:ext cx="3810000" cy="4393760"/>
        </p:xfrm>
        <a:graphic>
          <a:graphicData uri="http://schemas.openxmlformats.org/drawingml/2006/table">
            <a:tbl>
              <a:tblPr>
                <a:tableStyleId>{69CF1AB2-1976-4502-BF36-3FF5EA218861}</a:tableStyleId>
              </a:tblPr>
              <a:tblGrid>
                <a:gridCol w="1219200">
                  <a:extLst>
                    <a:ext uri="{9D8B030D-6E8A-4147-A177-3AD203B41FA5}">
                      <a16:colId xmlns:a16="http://schemas.microsoft.com/office/drawing/2014/main" val="418551341"/>
                    </a:ext>
                  </a:extLst>
                </a:gridCol>
                <a:gridCol w="1219200">
                  <a:extLst>
                    <a:ext uri="{9D8B030D-6E8A-4147-A177-3AD203B41FA5}">
                      <a16:colId xmlns:a16="http://schemas.microsoft.com/office/drawing/2014/main" val="3717760985"/>
                    </a:ext>
                  </a:extLst>
                </a:gridCol>
                <a:gridCol w="1371600">
                  <a:extLst>
                    <a:ext uri="{9D8B030D-6E8A-4147-A177-3AD203B41FA5}">
                      <a16:colId xmlns:a16="http://schemas.microsoft.com/office/drawing/2014/main" val="2118386432"/>
                    </a:ext>
                  </a:extLst>
                </a:gridCol>
              </a:tblGrid>
              <a:tr h="588213">
                <a:tc>
                  <a:txBody>
                    <a:bodyPr/>
                    <a:lstStyle/>
                    <a:p>
                      <a:pPr rtl="0"/>
                      <a:r>
                        <a:rPr lang="es-ES" sz="1200" b="1">
                          <a:solidFill>
                            <a:srgbClr val="1F1F1F"/>
                          </a:solidFill>
                          <a:effectLst/>
                        </a:rPr>
                        <a:t>Incremento ancho I/O (µm)</a:t>
                      </a:r>
                      <a:endParaRPr lang="es-ES" sz="1200">
                        <a:solidFill>
                          <a:srgbClr val="1F1F1F"/>
                        </a:solidFill>
                        <a:effectLst/>
                        <a:latin typeface="Google Sans Text"/>
                      </a:endParaRPr>
                    </a:p>
                  </a:txBody>
                  <a:tcPr marL="71463" marR="89328" marT="119104" marB="119104" anchor="ctr"/>
                </a:tc>
                <a:tc>
                  <a:txBody>
                    <a:bodyPr/>
                    <a:lstStyle/>
                    <a:p>
                      <a:pPr rtl="0"/>
                      <a:r>
                        <a:rPr lang="es-ES" sz="1200" b="1">
                          <a:solidFill>
                            <a:srgbClr val="1F1F1F"/>
                          </a:solidFill>
                          <a:effectLst/>
                        </a:rPr>
                        <a:t>Excess loss [dB]</a:t>
                      </a:r>
                      <a:endParaRPr lang="es-ES" sz="1200">
                        <a:solidFill>
                          <a:srgbClr val="1F1F1F"/>
                        </a:solidFill>
                        <a:effectLst/>
                        <a:latin typeface="Google Sans Text"/>
                      </a:endParaRPr>
                    </a:p>
                  </a:txBody>
                  <a:tcPr marL="71463" marR="89328" marT="119104" marB="119104" anchor="ctr"/>
                </a:tc>
                <a:tc>
                  <a:txBody>
                    <a:bodyPr/>
                    <a:lstStyle/>
                    <a:p>
                      <a:pPr rtl="0"/>
                      <a:r>
                        <a:rPr lang="es-ES" sz="1200" b="1" dirty="0">
                          <a:solidFill>
                            <a:srgbClr val="1F1F1F"/>
                          </a:solidFill>
                          <a:effectLst/>
                        </a:rPr>
                        <a:t>Ratio OUT</a:t>
                      </a:r>
                      <a:endParaRPr lang="es-ES" sz="1200" dirty="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3703569266"/>
                  </a:ext>
                </a:extLst>
              </a:tr>
              <a:tr h="410103">
                <a:tc>
                  <a:txBody>
                    <a:bodyPr/>
                    <a:lstStyle/>
                    <a:p>
                      <a:pPr rtl="0"/>
                      <a:r>
                        <a:rPr lang="es-ES" sz="1200" b="1" dirty="0">
                          <a:solidFill>
                            <a:srgbClr val="1F1F1F"/>
                          </a:solidFill>
                          <a:effectLst/>
                        </a:rPr>
                        <a:t>0.6</a:t>
                      </a:r>
                      <a:endParaRPr lang="es-ES" sz="1200" dirty="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0.0964</a:t>
                      </a:r>
                      <a:endParaRPr lang="es-ES" sz="1200" dirty="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['0.5094', '0.4906']</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1524176688"/>
                  </a:ext>
                </a:extLst>
              </a:tr>
              <a:tr h="410103">
                <a:tc>
                  <a:txBody>
                    <a:bodyPr/>
                    <a:lstStyle/>
                    <a:p>
                      <a:pPr rtl="0"/>
                      <a:r>
                        <a:rPr lang="es-ES" sz="1200" b="1">
                          <a:solidFill>
                            <a:srgbClr val="1F1F1F"/>
                          </a:solidFill>
                          <a:effectLst/>
                        </a:rPr>
                        <a:t>0.7</a:t>
                      </a:r>
                      <a:endParaRPr lang="es-ES" sz="120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0.0702</a:t>
                      </a:r>
                      <a:endParaRPr lang="es-ES" sz="1200" dirty="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['0.5097', '0.4903']</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271857907"/>
                  </a:ext>
                </a:extLst>
              </a:tr>
              <a:tr h="410103">
                <a:tc>
                  <a:txBody>
                    <a:bodyPr/>
                    <a:lstStyle/>
                    <a:p>
                      <a:pPr rtl="0"/>
                      <a:r>
                        <a:rPr lang="es-ES" sz="1200" b="1">
                          <a:solidFill>
                            <a:srgbClr val="1F1F1F"/>
                          </a:solidFill>
                          <a:effectLst/>
                        </a:rPr>
                        <a:t>0.8</a:t>
                      </a:r>
                      <a:endParaRPr lang="es-ES" sz="120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0.0440</a:t>
                      </a:r>
                      <a:endParaRPr lang="es-ES" sz="120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['0.5100', '0.4900']</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3265266826"/>
                  </a:ext>
                </a:extLst>
              </a:tr>
              <a:tr h="410103">
                <a:tc>
                  <a:txBody>
                    <a:bodyPr/>
                    <a:lstStyle/>
                    <a:p>
                      <a:pPr rtl="0"/>
                      <a:r>
                        <a:rPr lang="es-ES" sz="1200" b="1">
                          <a:solidFill>
                            <a:srgbClr val="1F1F1F"/>
                          </a:solidFill>
                          <a:effectLst/>
                        </a:rPr>
                        <a:t>0.9</a:t>
                      </a:r>
                      <a:endParaRPr lang="es-ES" sz="120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0.0290</a:t>
                      </a:r>
                      <a:endParaRPr lang="es-ES" sz="120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['0.5102', '0.4898']</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1837996345"/>
                  </a:ext>
                </a:extLst>
              </a:tr>
              <a:tr h="410103">
                <a:tc>
                  <a:txBody>
                    <a:bodyPr/>
                    <a:lstStyle/>
                    <a:p>
                      <a:pPr rtl="0"/>
                      <a:r>
                        <a:rPr lang="es-ES" sz="1200" b="1">
                          <a:solidFill>
                            <a:srgbClr val="1F1F1F"/>
                          </a:solidFill>
                          <a:effectLst/>
                        </a:rPr>
                        <a:t>1.0</a:t>
                      </a:r>
                      <a:endParaRPr lang="es-ES" sz="120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0.0150</a:t>
                      </a:r>
                      <a:endParaRPr lang="es-ES" sz="1200" dirty="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['0.5105', '0.4895']</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2537061632"/>
                  </a:ext>
                </a:extLst>
              </a:tr>
              <a:tr h="410103">
                <a:tc>
                  <a:txBody>
                    <a:bodyPr/>
                    <a:lstStyle/>
                    <a:p>
                      <a:pPr rtl="0"/>
                      <a:r>
                        <a:rPr lang="es-ES" sz="1200" b="1">
                          <a:solidFill>
                            <a:srgbClr val="1F1F1F"/>
                          </a:solidFill>
                          <a:effectLst/>
                        </a:rPr>
                        <a:t>1.1</a:t>
                      </a:r>
                      <a:endParaRPr lang="es-ES" sz="120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0.0076</a:t>
                      </a:r>
                      <a:endParaRPr lang="es-ES" sz="120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['0.5106', '0.4894']</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2153415897"/>
                  </a:ext>
                </a:extLst>
              </a:tr>
              <a:tr h="410103">
                <a:tc>
                  <a:txBody>
                    <a:bodyPr/>
                    <a:lstStyle/>
                    <a:p>
                      <a:pPr rtl="0"/>
                      <a:r>
                        <a:rPr lang="es-ES" sz="1200" b="1">
                          <a:solidFill>
                            <a:srgbClr val="1F1F1F"/>
                          </a:solidFill>
                          <a:effectLst/>
                        </a:rPr>
                        <a:t>1.2</a:t>
                      </a:r>
                      <a:endParaRPr lang="es-ES" sz="120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0.0002</a:t>
                      </a:r>
                      <a:endParaRPr lang="es-ES" sz="1200" dirty="0">
                        <a:solidFill>
                          <a:srgbClr val="1F1F1F"/>
                        </a:solidFill>
                        <a:effectLst/>
                        <a:latin typeface="Google Sans Text"/>
                      </a:endParaRPr>
                    </a:p>
                  </a:txBody>
                  <a:tcPr marL="71463" marR="89328" marT="119104" marB="119104" anchor="ctr"/>
                </a:tc>
                <a:tc>
                  <a:txBody>
                    <a:bodyPr/>
                    <a:lstStyle/>
                    <a:p>
                      <a:pPr rtl="0"/>
                      <a:r>
                        <a:rPr lang="es-ES" sz="1200">
                          <a:solidFill>
                            <a:srgbClr val="1F1F1F"/>
                          </a:solidFill>
                          <a:effectLst/>
                        </a:rPr>
                        <a:t>['0.5108', '0.4892']</a:t>
                      </a:r>
                      <a:endParaRPr lang="es-ES" sz="120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468093681"/>
                  </a:ext>
                </a:extLst>
              </a:tr>
              <a:tr h="410103">
                <a:tc>
                  <a:txBody>
                    <a:bodyPr/>
                    <a:lstStyle/>
                    <a:p>
                      <a:pPr rtl="0"/>
                      <a:r>
                        <a:rPr lang="es-ES" sz="1200" b="1">
                          <a:solidFill>
                            <a:srgbClr val="1F1F1F"/>
                          </a:solidFill>
                          <a:effectLst/>
                        </a:rPr>
                        <a:t>1.3</a:t>
                      </a:r>
                      <a:endParaRPr lang="es-ES" sz="120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-0.0034</a:t>
                      </a:r>
                      <a:endParaRPr lang="es-ES" sz="1200" dirty="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['0.5109', '0.4891']</a:t>
                      </a:r>
                      <a:endParaRPr lang="es-ES" sz="1200" dirty="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2482600613"/>
                  </a:ext>
                </a:extLst>
              </a:tr>
              <a:tr h="410103">
                <a:tc>
                  <a:txBody>
                    <a:bodyPr/>
                    <a:lstStyle/>
                    <a:p>
                      <a:pPr rtl="0"/>
                      <a:r>
                        <a:rPr lang="es-ES" sz="1200" b="1">
                          <a:solidFill>
                            <a:srgbClr val="1F1F1F"/>
                          </a:solidFill>
                          <a:effectLst/>
                        </a:rPr>
                        <a:t>1.4</a:t>
                      </a:r>
                      <a:endParaRPr lang="es-ES" sz="120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-0.0087</a:t>
                      </a:r>
                      <a:endParaRPr lang="es-ES" sz="1200" dirty="0">
                        <a:solidFill>
                          <a:srgbClr val="1F1F1F"/>
                        </a:solidFill>
                        <a:effectLst/>
                        <a:latin typeface="Google Sans Text"/>
                      </a:endParaRPr>
                    </a:p>
                  </a:txBody>
                  <a:tcPr marL="71463" marR="89328" marT="119104" marB="119104" anchor="ctr"/>
                </a:tc>
                <a:tc>
                  <a:txBody>
                    <a:bodyPr/>
                    <a:lstStyle/>
                    <a:p>
                      <a:pPr rtl="0"/>
                      <a:r>
                        <a:rPr lang="es-ES" sz="1200" dirty="0">
                          <a:solidFill>
                            <a:srgbClr val="1F1F1F"/>
                          </a:solidFill>
                          <a:effectLst/>
                        </a:rPr>
                        <a:t>['0.5109', '0.4891']</a:t>
                      </a:r>
                      <a:endParaRPr lang="es-ES" sz="1200" dirty="0">
                        <a:solidFill>
                          <a:srgbClr val="1F1F1F"/>
                        </a:solidFill>
                        <a:effectLst/>
                        <a:latin typeface="Google Sans Text"/>
                      </a:endParaRPr>
                    </a:p>
                  </a:txBody>
                  <a:tcPr marL="71463" marR="71463" marT="119104" marB="119104" anchor="ctr"/>
                </a:tc>
                <a:extLst>
                  <a:ext uri="{0D108BD9-81ED-4DB2-BD59-A6C34878D82A}">
                    <a16:rowId xmlns:a16="http://schemas.microsoft.com/office/drawing/2014/main" val="2804983260"/>
                  </a:ext>
                </a:extLst>
              </a:tr>
            </a:tbl>
          </a:graphicData>
        </a:graphic>
      </p:graphicFrame>
      <p:sp>
        <p:nvSpPr>
          <p:cNvPr id="7" name="Título 1">
            <a:extLst>
              <a:ext uri="{FF2B5EF4-FFF2-40B4-BE49-F238E27FC236}">
                <a16:creationId xmlns:a16="http://schemas.microsoft.com/office/drawing/2014/main" id="{CC7EFDCE-A0BC-4806-86F6-4A229C4890C4}"/>
              </a:ext>
            </a:extLst>
          </p:cNvPr>
          <p:cNvSpPr>
            <a:spLocks noGrp="1"/>
          </p:cNvSpPr>
          <p:nvPr>
            <p:ph type="title"/>
          </p:nvPr>
        </p:nvSpPr>
        <p:spPr>
          <a:xfrm>
            <a:off x="590550" y="206375"/>
            <a:ext cx="10991850" cy="307975"/>
          </a:xfrm>
        </p:spPr>
        <p:txBody>
          <a:bodyPr/>
          <a:lstStyle/>
          <a:p>
            <a:r>
              <a:rPr lang="es-ES" dirty="0"/>
              <a:t>Resolución </a:t>
            </a:r>
            <a:r>
              <a:rPr lang="en-US" sz="2000" dirty="0"/>
              <a:t>Learning outcome #4.3</a:t>
            </a:r>
            <a:endParaRPr lang="es-ES" dirty="0"/>
          </a:p>
        </p:txBody>
      </p:sp>
      <p:pic>
        <p:nvPicPr>
          <p:cNvPr id="9" name="Imagen 8">
            <a:extLst>
              <a:ext uri="{FF2B5EF4-FFF2-40B4-BE49-F238E27FC236}">
                <a16:creationId xmlns:a16="http://schemas.microsoft.com/office/drawing/2014/main" id="{7B3BC8C2-F385-40B0-AAE4-C72088C26D97}"/>
              </a:ext>
            </a:extLst>
          </p:cNvPr>
          <p:cNvPicPr>
            <a:picLocks noChangeAspect="1"/>
          </p:cNvPicPr>
          <p:nvPr/>
        </p:nvPicPr>
        <p:blipFill>
          <a:blip r:embed="rId2"/>
          <a:stretch>
            <a:fillRect/>
          </a:stretch>
        </p:blipFill>
        <p:spPr>
          <a:xfrm>
            <a:off x="5791200" y="1126930"/>
            <a:ext cx="4572000" cy="1893536"/>
          </a:xfrm>
          <a:prstGeom prst="rect">
            <a:avLst/>
          </a:prstGeom>
        </p:spPr>
      </p:pic>
    </p:spTree>
    <p:extLst>
      <p:ext uri="{BB962C8B-B14F-4D97-AF65-F5344CB8AC3E}">
        <p14:creationId xmlns:p14="http://schemas.microsoft.com/office/powerpoint/2010/main" val="659153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process for a 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texto 2">
                <a:extLst>
                  <a:ext uri="{FF2B5EF4-FFF2-40B4-BE49-F238E27FC236}">
                    <a16:creationId xmlns:a16="http://schemas.microsoft.com/office/drawing/2014/main" id="{AE170CC2-ABB7-44B3-B060-94A64E5A9A02}"/>
                  </a:ext>
                </a:extLst>
              </p:cNvPr>
              <p:cNvSpPr>
                <a:spLocks noGrp="1"/>
              </p:cNvSpPr>
              <p:nvPr>
                <p:ph type="body" idx="1"/>
              </p:nvPr>
            </p:nvSpPr>
            <p:spPr>
              <a:xfrm>
                <a:off x="609600" y="4724400"/>
                <a:ext cx="10972800" cy="736997"/>
              </a:xfrm>
            </p:spPr>
            <p:txBody>
              <a:bodyPr/>
              <a:lstStyle/>
              <a:p>
                <a:r>
                  <a:rPr lang="es-ES" sz="1400" dirty="0"/>
                  <a:t>Como diseño base sin optimizar, se han implementado los parámetros teóricos exactos para un MMI 1x4 (longitud </a:t>
                </a:r>
                <a14:m>
                  <m:oMath xmlns:m="http://schemas.openxmlformats.org/officeDocument/2006/math">
                    <m:f>
                      <m:fPr>
                        <m:ctrlPr>
                          <a:rPr lang="es-ES" sz="1400" i="1" dirty="0" smtClean="0">
                            <a:latin typeface="Cambria Math" panose="02040503050406030204" pitchFamily="18" charset="0"/>
                          </a:rPr>
                        </m:ctrlPr>
                      </m:fPr>
                      <m:num>
                        <m:r>
                          <a:rPr lang="es-ES" sz="1400" i="1" dirty="0" smtClean="0">
                            <a:latin typeface="Cambria Math" panose="02040503050406030204" pitchFamily="18" charset="0"/>
                          </a:rPr>
                          <m:t>3</m:t>
                        </m:r>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𝐿</m:t>
                            </m:r>
                          </m:e>
                          <m:sub>
                            <m:r>
                              <a:rPr lang="es-ES" sz="1400" i="1" dirty="0" smtClean="0">
                                <a:latin typeface="Cambria Math" panose="02040503050406030204" pitchFamily="18" charset="0"/>
                              </a:rPr>
                              <m:t>𝜋</m:t>
                            </m:r>
                          </m:sub>
                        </m:sSub>
                      </m:num>
                      <m:den>
                        <m:r>
                          <a:rPr lang="es-ES" sz="1400" i="1" dirty="0" smtClean="0">
                            <a:latin typeface="Cambria Math" panose="02040503050406030204" pitchFamily="18" charset="0"/>
                          </a:rPr>
                          <m:t>16</m:t>
                        </m:r>
                      </m:den>
                    </m:f>
                  </m:oMath>
                </a14:m>
                <a:r>
                  <a:rPr lang="es-ES" sz="1400" dirty="0"/>
                  <a:t> y posiciones de salida a </a:t>
                </a:r>
                <a14:m>
                  <m:oMath xmlns:m="http://schemas.openxmlformats.org/officeDocument/2006/math">
                    <m:r>
                      <a:rPr lang="es-ES" sz="1400" i="1" dirty="0" smtClean="0">
                        <a:latin typeface="Cambria Math" panose="02040503050406030204" pitchFamily="18" charset="0"/>
                      </a:rPr>
                      <m:t>±</m:t>
                    </m:r>
                    <m:f>
                      <m:fPr>
                        <m:ctrlPr>
                          <a:rPr lang="es-ES" sz="1400" i="1" dirty="0" smtClean="0">
                            <a:latin typeface="Cambria Math" panose="02040503050406030204" pitchFamily="18" charset="0"/>
                          </a:rPr>
                        </m:ctrlPr>
                      </m:fPr>
                      <m:num>
                        <m:r>
                          <a:rPr lang="es-ES" sz="1400" i="1" dirty="0" smtClean="0">
                            <a:latin typeface="Cambria Math" panose="02040503050406030204" pitchFamily="18" charset="0"/>
                          </a:rPr>
                          <m:t>1</m:t>
                        </m:r>
                      </m:num>
                      <m:den>
                        <m:r>
                          <a:rPr lang="es-ES" sz="1400" i="1" dirty="0" smtClean="0">
                            <a:latin typeface="Cambria Math" panose="02040503050406030204" pitchFamily="18" charset="0"/>
                          </a:rPr>
                          <m:t>8</m:t>
                        </m:r>
                        <m:r>
                          <a:rPr lang="es-ES" sz="1400" b="0" i="1" dirty="0" smtClean="0">
                            <a:latin typeface="Cambria Math" panose="02040503050406030204" pitchFamily="18" charset="0"/>
                          </a:rPr>
                          <m:t> </m:t>
                        </m:r>
                      </m:den>
                    </m:f>
                  </m:oMath>
                </a14:m>
                <a:r>
                  <a:rPr lang="es-ES" sz="1400" dirty="0"/>
                  <a:t> y </a:t>
                </a:r>
                <a14:m>
                  <m:oMath xmlns:m="http://schemas.openxmlformats.org/officeDocument/2006/math">
                    <m:r>
                      <a:rPr lang="es-ES" sz="1400" i="1" dirty="0" smtClean="0">
                        <a:latin typeface="Cambria Math" panose="02040503050406030204" pitchFamily="18" charset="0"/>
                      </a:rPr>
                      <m:t>±</m:t>
                    </m:r>
                    <m:f>
                      <m:fPr>
                        <m:ctrlPr>
                          <a:rPr lang="es-ES" sz="1400" i="1" dirty="0" smtClean="0">
                            <a:latin typeface="Cambria Math" panose="02040503050406030204" pitchFamily="18" charset="0"/>
                          </a:rPr>
                        </m:ctrlPr>
                      </m:fPr>
                      <m:num>
                        <m:r>
                          <a:rPr lang="es-ES" sz="1400" i="1" dirty="0" smtClean="0">
                            <a:latin typeface="Cambria Math" panose="02040503050406030204" pitchFamily="18" charset="0"/>
                          </a:rPr>
                          <m:t>3</m:t>
                        </m:r>
                      </m:num>
                      <m:den>
                        <m:r>
                          <a:rPr lang="es-ES" sz="1400" i="1" dirty="0" smtClean="0">
                            <a:latin typeface="Cambria Math" panose="02040503050406030204" pitchFamily="18" charset="0"/>
                          </a:rPr>
                          <m:t>8</m:t>
                        </m:r>
                      </m:den>
                    </m:f>
                  </m:oMath>
                </a14:m>
                <a:r>
                  <a:rPr lang="es-ES" sz="1400" dirty="0"/>
                  <a:t> del ancho). Aunque se consigue una relación de división de potencia bastante equilibrada (en torno al 25% por rama), el acoplamiento no es ideal, lo que genera unas elevadas pérdidas por exceso de 0.81 dB. Este resultado justifica la necesidad de realizar las optimizaciones geométricas posteriores.</a:t>
                </a:r>
              </a:p>
            </p:txBody>
          </p:sp>
        </mc:Choice>
        <mc:Fallback xmlns="">
          <p:sp>
            <p:nvSpPr>
              <p:cNvPr id="3" name="Marcador de texto 2">
                <a:extLst>
                  <a:ext uri="{FF2B5EF4-FFF2-40B4-BE49-F238E27FC236}">
                    <a16:creationId xmlns:a16="http://schemas.microsoft.com/office/drawing/2014/main" id="{AE170CC2-ABB7-44B3-B060-94A64E5A9A02}"/>
                  </a:ext>
                </a:extLst>
              </p:cNvPr>
              <p:cNvSpPr>
                <a:spLocks noGrp="1" noRot="1" noChangeAspect="1" noMove="1" noResize="1" noEditPoints="1" noAdjustHandles="1" noChangeArrowheads="1" noChangeShapeType="1" noTextEdit="1"/>
              </p:cNvSpPr>
              <p:nvPr>
                <p:ph type="body" idx="1"/>
              </p:nvPr>
            </p:nvSpPr>
            <p:spPr>
              <a:xfrm>
                <a:off x="609600" y="4724400"/>
                <a:ext cx="10972800" cy="736997"/>
              </a:xfrm>
              <a:blipFill>
                <a:blip r:embed="rId2"/>
                <a:stretch>
                  <a:fillRect l="-1000" t="-826" r="-333" b="-14050"/>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F5652E37-7B6D-4A72-AC4B-73088E5D50B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5638AE2-B201-4795-BF32-35EAD9B831A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7" name="Título 1">
            <a:extLst>
              <a:ext uri="{FF2B5EF4-FFF2-40B4-BE49-F238E27FC236}">
                <a16:creationId xmlns:a16="http://schemas.microsoft.com/office/drawing/2014/main" id="{1EF48184-A353-4AB8-B746-BA66723320DE}"/>
              </a:ext>
            </a:extLst>
          </p:cNvPr>
          <p:cNvSpPr>
            <a:spLocks noGrp="1"/>
          </p:cNvSpPr>
          <p:nvPr>
            <p:ph type="title"/>
          </p:nvPr>
        </p:nvSpPr>
        <p:spPr>
          <a:xfrm>
            <a:off x="590550" y="206375"/>
            <a:ext cx="10991850" cy="307975"/>
          </a:xfrm>
        </p:spPr>
        <p:txBody>
          <a:bodyPr/>
          <a:lstStyle/>
          <a:p>
            <a:r>
              <a:rPr lang="es-ES" dirty="0"/>
              <a:t>Resolución </a:t>
            </a:r>
            <a:r>
              <a:rPr lang="en-US" sz="2000" dirty="0"/>
              <a:t>Learning outcome #</a:t>
            </a:r>
            <a:r>
              <a:rPr lang="en-US" dirty="0"/>
              <a:t>5</a:t>
            </a:r>
            <a:endParaRPr lang="es-ES" dirty="0"/>
          </a:p>
        </p:txBody>
      </p:sp>
      <p:pic>
        <p:nvPicPr>
          <p:cNvPr id="9" name="Imagen 8">
            <a:extLst>
              <a:ext uri="{FF2B5EF4-FFF2-40B4-BE49-F238E27FC236}">
                <a16:creationId xmlns:a16="http://schemas.microsoft.com/office/drawing/2014/main" id="{EF38F2E1-754D-4187-838D-7D0283C0281E}"/>
              </a:ext>
            </a:extLst>
          </p:cNvPr>
          <p:cNvPicPr>
            <a:picLocks noChangeAspect="1"/>
          </p:cNvPicPr>
          <p:nvPr/>
        </p:nvPicPr>
        <p:blipFill>
          <a:blip r:embed="rId3"/>
          <a:stretch>
            <a:fillRect/>
          </a:stretch>
        </p:blipFill>
        <p:spPr>
          <a:xfrm>
            <a:off x="609600" y="1143000"/>
            <a:ext cx="3664414" cy="3085499"/>
          </a:xfrm>
          <a:prstGeom prst="rect">
            <a:avLst/>
          </a:prstGeom>
        </p:spPr>
      </p:pic>
      <p:pic>
        <p:nvPicPr>
          <p:cNvPr id="17" name="Imagen 16">
            <a:extLst>
              <a:ext uri="{FF2B5EF4-FFF2-40B4-BE49-F238E27FC236}">
                <a16:creationId xmlns:a16="http://schemas.microsoft.com/office/drawing/2014/main" id="{0BA24095-0C25-4035-B30D-8A49926EB8E2}"/>
              </a:ext>
            </a:extLst>
          </p:cNvPr>
          <p:cNvPicPr>
            <a:picLocks noChangeAspect="1"/>
          </p:cNvPicPr>
          <p:nvPr/>
        </p:nvPicPr>
        <p:blipFill>
          <a:blip r:embed="rId4"/>
          <a:stretch>
            <a:fillRect/>
          </a:stretch>
        </p:blipFill>
        <p:spPr>
          <a:xfrm>
            <a:off x="5410200" y="1988644"/>
            <a:ext cx="4724400" cy="1595138"/>
          </a:xfrm>
          <a:prstGeom prst="rect">
            <a:avLst/>
          </a:prstGeom>
        </p:spPr>
      </p:pic>
      <p:sp>
        <p:nvSpPr>
          <p:cNvPr id="18" name="Título 1">
            <a:extLst>
              <a:ext uri="{FF2B5EF4-FFF2-40B4-BE49-F238E27FC236}">
                <a16:creationId xmlns:a16="http://schemas.microsoft.com/office/drawing/2014/main" id="{6593265B-7858-4487-9FCA-4993C8257AB5}"/>
              </a:ext>
            </a:extLst>
          </p:cNvPr>
          <p:cNvSpPr txBox="1">
            <a:spLocks/>
          </p:cNvSpPr>
          <p:nvPr/>
        </p:nvSpPr>
        <p:spPr>
          <a:xfrm>
            <a:off x="590550" y="582579"/>
            <a:ext cx="10991850" cy="307975"/>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u="sng" kern="0" dirty="0"/>
              <a:t>Sin optimización</a:t>
            </a:r>
          </a:p>
        </p:txBody>
      </p:sp>
    </p:spTree>
    <p:extLst>
      <p:ext uri="{BB962C8B-B14F-4D97-AF65-F5344CB8AC3E}">
        <p14:creationId xmlns:p14="http://schemas.microsoft.com/office/powerpoint/2010/main" val="2371510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E170CC2-ABB7-44B3-B060-94A64E5A9A02}"/>
              </a:ext>
            </a:extLst>
          </p:cNvPr>
          <p:cNvSpPr>
            <a:spLocks noGrp="1"/>
          </p:cNvSpPr>
          <p:nvPr>
            <p:ph type="body" idx="1"/>
          </p:nvPr>
        </p:nvSpPr>
        <p:spPr>
          <a:xfrm>
            <a:off x="609600" y="4800600"/>
            <a:ext cx="10972800" cy="1046440"/>
          </a:xfrm>
        </p:spPr>
        <p:txBody>
          <a:bodyPr/>
          <a:lstStyle/>
          <a:p>
            <a:r>
              <a:rPr lang="es-ES" sz="1400" dirty="0"/>
              <a:t>La primera optimización ha consistido en la aplicación de un desplazamiento de las guías de onda de salida, modificando ligeramente su posición transversal (parámetro </a:t>
            </a:r>
            <a:r>
              <a:rPr lang="es-ES" sz="1400" dirty="0" err="1"/>
              <a:t>dy</a:t>
            </a:r>
            <a:r>
              <a:rPr lang="es-ES" sz="1400" dirty="0"/>
              <a:t>) para alinearlas con mayor precisión sobre los verdaderos máximos de intensidad del patrón de interferencia multimodo, mejorando así el acoplamiento y el balance de potencia. Además se ha hecho un incremento de longitud del MMI respecto a la longitud ideal de -1.3 µm</a:t>
            </a:r>
            <a:r>
              <a:rPr lang="es-ES" sz="1400" dirty="0">
                <a:latin typeface="Arial" panose="020B0604020202020204" pitchFamily="34" charset="0"/>
                <a:cs typeface="Arial" panose="020B0604020202020204" pitchFamily="34" charset="0"/>
              </a:rPr>
              <a:t>.</a:t>
            </a:r>
            <a:endParaRPr lang="es-ES" sz="1400" dirty="0"/>
          </a:p>
          <a:p>
            <a:endParaRPr lang="es-ES" sz="1200" dirty="0"/>
          </a:p>
        </p:txBody>
      </p:sp>
      <p:sp>
        <p:nvSpPr>
          <p:cNvPr id="4" name="Marcador de pie de página 3">
            <a:extLst>
              <a:ext uri="{FF2B5EF4-FFF2-40B4-BE49-F238E27FC236}">
                <a16:creationId xmlns:a16="http://schemas.microsoft.com/office/drawing/2014/main" id="{F5652E37-7B6D-4A72-AC4B-73088E5D50B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5638AE2-B201-4795-BF32-35EAD9B831AF}"/>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7" name="Título 1">
            <a:extLst>
              <a:ext uri="{FF2B5EF4-FFF2-40B4-BE49-F238E27FC236}">
                <a16:creationId xmlns:a16="http://schemas.microsoft.com/office/drawing/2014/main" id="{1EF48184-A353-4AB8-B746-BA66723320DE}"/>
              </a:ext>
            </a:extLst>
          </p:cNvPr>
          <p:cNvSpPr>
            <a:spLocks noGrp="1"/>
          </p:cNvSpPr>
          <p:nvPr>
            <p:ph type="title"/>
          </p:nvPr>
        </p:nvSpPr>
        <p:spPr>
          <a:xfrm>
            <a:off x="590550" y="206375"/>
            <a:ext cx="10991850" cy="307975"/>
          </a:xfrm>
        </p:spPr>
        <p:txBody>
          <a:bodyPr/>
          <a:lstStyle/>
          <a:p>
            <a:r>
              <a:rPr lang="es-ES" dirty="0"/>
              <a:t>Resolución </a:t>
            </a:r>
            <a:r>
              <a:rPr lang="en-US" sz="2000" dirty="0"/>
              <a:t>Learning outcome #</a:t>
            </a:r>
            <a:r>
              <a:rPr lang="en-US" dirty="0"/>
              <a:t>5</a:t>
            </a:r>
            <a:endParaRPr lang="es-ES" dirty="0"/>
          </a:p>
        </p:txBody>
      </p:sp>
      <p:pic>
        <p:nvPicPr>
          <p:cNvPr id="11" name="Imagen 10">
            <a:extLst>
              <a:ext uri="{FF2B5EF4-FFF2-40B4-BE49-F238E27FC236}">
                <a16:creationId xmlns:a16="http://schemas.microsoft.com/office/drawing/2014/main" id="{0BF4ECB0-B0AD-4791-B333-6FCEB5DB199D}"/>
              </a:ext>
            </a:extLst>
          </p:cNvPr>
          <p:cNvPicPr>
            <a:picLocks noChangeAspect="1"/>
          </p:cNvPicPr>
          <p:nvPr/>
        </p:nvPicPr>
        <p:blipFill>
          <a:blip r:embed="rId2"/>
          <a:stretch>
            <a:fillRect/>
          </a:stretch>
        </p:blipFill>
        <p:spPr>
          <a:xfrm>
            <a:off x="615950" y="1107763"/>
            <a:ext cx="3631637" cy="3083237"/>
          </a:xfrm>
          <a:prstGeom prst="rect">
            <a:avLst/>
          </a:prstGeom>
        </p:spPr>
      </p:pic>
      <p:pic>
        <p:nvPicPr>
          <p:cNvPr id="6" name="Imagen 5">
            <a:extLst>
              <a:ext uri="{FF2B5EF4-FFF2-40B4-BE49-F238E27FC236}">
                <a16:creationId xmlns:a16="http://schemas.microsoft.com/office/drawing/2014/main" id="{3DE218C0-C0CF-4FCE-8A90-AAD46CE9F91A}"/>
              </a:ext>
            </a:extLst>
          </p:cNvPr>
          <p:cNvPicPr>
            <a:picLocks noChangeAspect="1"/>
          </p:cNvPicPr>
          <p:nvPr/>
        </p:nvPicPr>
        <p:blipFill>
          <a:blip r:embed="rId3"/>
          <a:stretch>
            <a:fillRect/>
          </a:stretch>
        </p:blipFill>
        <p:spPr>
          <a:xfrm>
            <a:off x="4648200" y="1752600"/>
            <a:ext cx="6466136" cy="1764163"/>
          </a:xfrm>
          <a:prstGeom prst="rect">
            <a:avLst/>
          </a:prstGeom>
        </p:spPr>
      </p:pic>
      <p:sp>
        <p:nvSpPr>
          <p:cNvPr id="12" name="Título 1">
            <a:extLst>
              <a:ext uri="{FF2B5EF4-FFF2-40B4-BE49-F238E27FC236}">
                <a16:creationId xmlns:a16="http://schemas.microsoft.com/office/drawing/2014/main" id="{1B51BFF4-9218-471E-A6BE-99ABF5BB6B81}"/>
              </a:ext>
            </a:extLst>
          </p:cNvPr>
          <p:cNvSpPr txBox="1">
            <a:spLocks/>
          </p:cNvSpPr>
          <p:nvPr/>
        </p:nvSpPr>
        <p:spPr>
          <a:xfrm>
            <a:off x="590550" y="582579"/>
            <a:ext cx="10991850" cy="307975"/>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u="sng" kern="0" dirty="0"/>
              <a:t>1ª optimización</a:t>
            </a:r>
          </a:p>
        </p:txBody>
      </p:sp>
    </p:spTree>
    <p:extLst>
      <p:ext uri="{BB962C8B-B14F-4D97-AF65-F5344CB8AC3E}">
        <p14:creationId xmlns:p14="http://schemas.microsoft.com/office/powerpoint/2010/main" val="3287160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E170CC2-ABB7-44B3-B060-94A64E5A9A02}"/>
              </a:ext>
            </a:extLst>
          </p:cNvPr>
          <p:cNvSpPr>
            <a:spLocks noGrp="1"/>
          </p:cNvSpPr>
          <p:nvPr>
            <p:ph type="body" idx="1"/>
          </p:nvPr>
        </p:nvSpPr>
        <p:spPr>
          <a:xfrm>
            <a:off x="590550" y="4897880"/>
            <a:ext cx="10972800" cy="861774"/>
          </a:xfrm>
        </p:spPr>
        <p:txBody>
          <a:bodyPr/>
          <a:lstStyle/>
          <a:p>
            <a:r>
              <a:rPr lang="es-ES" sz="1400" dirty="0"/>
              <a:t>Para la segunda optimización, se ha incrementado el ancho de las guías de acceso (entrada y salidas) mediante el parámetro </a:t>
            </a:r>
            <a:r>
              <a:rPr lang="es-ES" sz="1400" dirty="0" err="1"/>
              <a:t>dw</a:t>
            </a:r>
            <a:r>
              <a:rPr lang="es-ES" sz="1400" dirty="0"/>
              <a:t> = 1.5 µm. Este ensanchamiento permite una adaptación modal mucho más suave entre las guías y la región multimodo. Como resultado, se logra una reducción drástica de las pérdidas por exceso, alcanzando un valor óptimo de 0.013 dB, a la vez que se obtiene un balance de potencia casi perfecto (en torno al 25% por rama) en los cuatro puertos de salida.</a:t>
            </a:r>
          </a:p>
        </p:txBody>
      </p:sp>
      <p:sp>
        <p:nvSpPr>
          <p:cNvPr id="4" name="Marcador de pie de página 3">
            <a:extLst>
              <a:ext uri="{FF2B5EF4-FFF2-40B4-BE49-F238E27FC236}">
                <a16:creationId xmlns:a16="http://schemas.microsoft.com/office/drawing/2014/main" id="{F5652E37-7B6D-4A72-AC4B-73088E5D50B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5638AE2-B201-4795-BF32-35EAD9B831A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7" name="Título 1">
            <a:extLst>
              <a:ext uri="{FF2B5EF4-FFF2-40B4-BE49-F238E27FC236}">
                <a16:creationId xmlns:a16="http://schemas.microsoft.com/office/drawing/2014/main" id="{1EF48184-A353-4AB8-B746-BA66723320DE}"/>
              </a:ext>
            </a:extLst>
          </p:cNvPr>
          <p:cNvSpPr>
            <a:spLocks noGrp="1"/>
          </p:cNvSpPr>
          <p:nvPr>
            <p:ph type="title"/>
          </p:nvPr>
        </p:nvSpPr>
        <p:spPr>
          <a:xfrm>
            <a:off x="590550" y="206375"/>
            <a:ext cx="10991850" cy="307975"/>
          </a:xfrm>
        </p:spPr>
        <p:txBody>
          <a:bodyPr/>
          <a:lstStyle/>
          <a:p>
            <a:r>
              <a:rPr lang="es-ES" dirty="0"/>
              <a:t>Resolución </a:t>
            </a:r>
            <a:r>
              <a:rPr lang="en-US" sz="2000" dirty="0"/>
              <a:t>Learning outcome #</a:t>
            </a:r>
            <a:r>
              <a:rPr lang="en-US" dirty="0"/>
              <a:t>5</a:t>
            </a:r>
            <a:endParaRPr lang="es-ES" dirty="0"/>
          </a:p>
        </p:txBody>
      </p:sp>
      <p:pic>
        <p:nvPicPr>
          <p:cNvPr id="15" name="Imagen 14">
            <a:extLst>
              <a:ext uri="{FF2B5EF4-FFF2-40B4-BE49-F238E27FC236}">
                <a16:creationId xmlns:a16="http://schemas.microsoft.com/office/drawing/2014/main" id="{63D8F2F1-C4FB-4B55-B68C-38596DF67FF8}"/>
              </a:ext>
            </a:extLst>
          </p:cNvPr>
          <p:cNvPicPr>
            <a:picLocks noChangeAspect="1"/>
          </p:cNvPicPr>
          <p:nvPr/>
        </p:nvPicPr>
        <p:blipFill>
          <a:blip r:embed="rId2"/>
          <a:stretch>
            <a:fillRect/>
          </a:stretch>
        </p:blipFill>
        <p:spPr>
          <a:xfrm>
            <a:off x="609600" y="1140012"/>
            <a:ext cx="3641073" cy="3089395"/>
          </a:xfrm>
          <a:prstGeom prst="rect">
            <a:avLst/>
          </a:prstGeom>
        </p:spPr>
      </p:pic>
      <p:sp>
        <p:nvSpPr>
          <p:cNvPr id="9" name="Título 1">
            <a:extLst>
              <a:ext uri="{FF2B5EF4-FFF2-40B4-BE49-F238E27FC236}">
                <a16:creationId xmlns:a16="http://schemas.microsoft.com/office/drawing/2014/main" id="{9C46014E-CF00-483E-BB2D-3A230071BC61}"/>
              </a:ext>
            </a:extLst>
          </p:cNvPr>
          <p:cNvSpPr txBox="1">
            <a:spLocks/>
          </p:cNvSpPr>
          <p:nvPr/>
        </p:nvSpPr>
        <p:spPr>
          <a:xfrm>
            <a:off x="590550" y="582579"/>
            <a:ext cx="10991850" cy="307975"/>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u="sng" kern="0" dirty="0"/>
              <a:t>2ª optimización</a:t>
            </a:r>
          </a:p>
        </p:txBody>
      </p:sp>
      <p:pic>
        <p:nvPicPr>
          <p:cNvPr id="8" name="Imagen 7">
            <a:extLst>
              <a:ext uri="{FF2B5EF4-FFF2-40B4-BE49-F238E27FC236}">
                <a16:creationId xmlns:a16="http://schemas.microsoft.com/office/drawing/2014/main" id="{ABF37F4B-299F-49EC-9B6D-15A7BB8A640C}"/>
              </a:ext>
            </a:extLst>
          </p:cNvPr>
          <p:cNvPicPr>
            <a:picLocks noChangeAspect="1"/>
          </p:cNvPicPr>
          <p:nvPr/>
        </p:nvPicPr>
        <p:blipFill>
          <a:blip r:embed="rId3"/>
          <a:stretch>
            <a:fillRect/>
          </a:stretch>
        </p:blipFill>
        <p:spPr>
          <a:xfrm>
            <a:off x="5257800" y="890554"/>
            <a:ext cx="5615580" cy="3447499"/>
          </a:xfrm>
          <a:prstGeom prst="rect">
            <a:avLst/>
          </a:prstGeom>
        </p:spPr>
      </p:pic>
    </p:spTree>
    <p:extLst>
      <p:ext uri="{BB962C8B-B14F-4D97-AF65-F5344CB8AC3E}">
        <p14:creationId xmlns:p14="http://schemas.microsoft.com/office/powerpoint/2010/main" val="2183422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1514</TotalTime>
  <Words>2198</Words>
  <Application>Microsoft Office PowerPoint</Application>
  <PresentationFormat>Panorámica</PresentationFormat>
  <Paragraphs>266</Paragraphs>
  <Slides>24</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24</vt:i4>
      </vt:variant>
    </vt:vector>
  </HeadingPairs>
  <TitlesOfParts>
    <vt:vector size="32" baseType="lpstr">
      <vt:lpstr>Aptos</vt:lpstr>
      <vt:lpstr>Arial</vt:lpstr>
      <vt:lpstr>Calibri</vt:lpstr>
      <vt:lpstr>Cambria Math</vt:lpstr>
      <vt:lpstr>Google Sans Text</vt:lpstr>
      <vt:lpstr>Lucida Sans</vt:lpstr>
      <vt:lpstr>Times New Roman</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Gap 0.6 - 1.6 µm (step 0.1 µm) – Wavelength 1.55 µm </vt:lpstr>
      <vt:lpstr>Propagation plots for each gap between 0.6 - 1.6 µm (step 0.1 µm)</vt:lpstr>
      <vt:lpstr>Learning outcome #3 – Parallel uncoupled waveguides Wavelength 1.55 µm, width 1.0 µm, gap to be found for uncoupled wvgs</vt:lpstr>
      <vt:lpstr>Resolución Learning outcome #3</vt:lpstr>
      <vt:lpstr>Presentación de PowerPoint</vt:lpstr>
      <vt:lpstr>Learning outcome #4 – 4.1 2x2 Multimode Interference Coupler  Wavelength 1.55 µm, wMMI = 6.6 µm</vt:lpstr>
      <vt:lpstr>Resolución Learning outcome #4.1</vt:lpstr>
      <vt:lpstr>Learning outcome #4.2 – 2x2 Multimode Interference Coupler - Optimization Wavelength 1.55 µm, wMMI = 6.6 µm</vt:lpstr>
      <vt:lpstr>Resolución Learning outcome #4.2</vt:lpstr>
      <vt:lpstr>Learning outcome #4.3 – 2x2 Multimode Interference Coupler – Optimization (II) Wavelength 1.55 µm, wMMI = 6.6 µm</vt:lpstr>
      <vt:lpstr>Resolución Learning outcome #4.3</vt:lpstr>
      <vt:lpstr>Learning outcome #5 – 1x4 Multimode Interference Coupler  Wavelength 1.55 µm, wMMI = ? µm</vt:lpstr>
      <vt:lpstr>Resolución Learning outcome #5</vt:lpstr>
      <vt:lpstr>Resolución Learning outcome #5</vt:lpstr>
      <vt:lpstr>Resolución Learning outcome #5</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cfp</cp:lastModifiedBy>
  <cp:revision>39</cp:revision>
  <dcterms:created xsi:type="dcterms:W3CDTF">2025-01-27T02:46:57Z</dcterms:created>
  <dcterms:modified xsi:type="dcterms:W3CDTF">2026-03-11T15:46:09Z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
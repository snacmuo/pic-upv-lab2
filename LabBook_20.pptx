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1"/>
  </p:notesMasterIdLst>
  <p:handoutMasterIdLst>
    <p:handoutMasterId r:id="rId22"/>
  </p:handoutMasterIdLst>
  <p:sldIdLst>
    <p:sldId id="256" r:id="rId2"/>
    <p:sldId id="289" r:id="rId3"/>
    <p:sldId id="295" r:id="rId4"/>
    <p:sldId id="302" r:id="rId5"/>
    <p:sldId id="303" r:id="rId6"/>
    <p:sldId id="304" r:id="rId7"/>
    <p:sldId id="291" r:id="rId8"/>
    <p:sldId id="296" r:id="rId9"/>
    <p:sldId id="294" r:id="rId10"/>
    <p:sldId id="299" r:id="rId11"/>
    <p:sldId id="305" r:id="rId12"/>
    <p:sldId id="300" r:id="rId13"/>
    <p:sldId id="306" r:id="rId14"/>
    <p:sldId id="301" r:id="rId15"/>
    <p:sldId id="297" r:id="rId16"/>
    <p:sldId id="290" r:id="rId17"/>
    <p:sldId id="292" r:id="rId18"/>
    <p:sldId id="298" r:id="rId19"/>
    <p:sldId id="288" r:id="rId20"/>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Estilo claro 2 - Acento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Estilo medio 4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113" d="100"/>
          <a:sy n="113" d="100"/>
        </p:scale>
        <p:origin x="246"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10/03/2026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10/03/2026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Sergi </a:t>
            </a:r>
            <a:r>
              <a:rPr lang="es-ES" spc="165" dirty="0" err="1">
                <a:latin typeface="Arial"/>
                <a:cs typeface="Arial"/>
              </a:rPr>
              <a:t>Nàcher</a:t>
            </a:r>
            <a:r>
              <a:rPr lang="es-ES" spc="165" dirty="0">
                <a:latin typeface="Arial"/>
                <a:cs typeface="Arial"/>
              </a:rPr>
              <a:t> Muñoz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5" name="CuadroTexto 4">
            <a:extLst>
              <a:ext uri="{FF2B5EF4-FFF2-40B4-BE49-F238E27FC236}">
                <a16:creationId xmlns:a16="http://schemas.microsoft.com/office/drawing/2014/main" id="{43C69CDD-218E-494A-8C3E-1431DB5F9DC7}"/>
              </a:ext>
            </a:extLst>
          </p:cNvPr>
          <p:cNvSpPr txBox="1"/>
          <p:nvPr/>
        </p:nvSpPr>
        <p:spPr>
          <a:xfrm>
            <a:off x="8153400" y="1833699"/>
            <a:ext cx="3709297" cy="830997"/>
          </a:xfrm>
          <a:prstGeom prst="rect">
            <a:avLst/>
          </a:prstGeom>
          <a:noFill/>
        </p:spPr>
        <p:txBody>
          <a:bodyPr wrap="square" rtlCol="0">
            <a:spAutoFit/>
          </a:bodyPr>
          <a:lstStyle/>
          <a:p>
            <a:r>
              <a:rPr lang="es-ES" sz="1200" dirty="0"/>
              <a:t>Modo de operación:</a:t>
            </a:r>
          </a:p>
          <a:p>
            <a:r>
              <a:rPr lang="es-ES" sz="1200" dirty="0" err="1"/>
              <a:t>Directional</a:t>
            </a:r>
            <a:r>
              <a:rPr lang="es-ES" sz="1200" dirty="0"/>
              <a:t> </a:t>
            </a:r>
            <a:r>
              <a:rPr lang="es-ES" sz="1200" dirty="0" err="1"/>
              <a:t>couplers</a:t>
            </a:r>
            <a:r>
              <a:rPr lang="es-ES" sz="1200" dirty="0"/>
              <a:t> </a:t>
            </a:r>
            <a:r>
              <a:rPr lang="es-ES" sz="1200" dirty="0">
                <a:sym typeface="Wingdings" panose="05000000000000000000" pitchFamily="2" charset="2"/>
              </a:rPr>
              <a:t></a:t>
            </a:r>
            <a:r>
              <a:rPr lang="es-ES" sz="1200" dirty="0"/>
              <a:t>Transferencia de campo evanescente</a:t>
            </a:r>
          </a:p>
          <a:p>
            <a:r>
              <a:rPr lang="es-ES" sz="1200" dirty="0"/>
              <a:t>MMI </a:t>
            </a:r>
            <a:r>
              <a:rPr lang="es-ES" sz="1200" dirty="0">
                <a:sym typeface="Wingdings" panose="05000000000000000000" pitchFamily="2" charset="2"/>
              </a:rPr>
              <a:t> </a:t>
            </a:r>
            <a:r>
              <a:rPr lang="es-ES" sz="1200" dirty="0"/>
              <a:t>Interferencia modal</a:t>
            </a:r>
          </a:p>
        </p:txBody>
      </p:sp>
      <p:sp>
        <p:nvSpPr>
          <p:cNvPr id="6" name="CuadroTexto 5">
            <a:extLst>
              <a:ext uri="{FF2B5EF4-FFF2-40B4-BE49-F238E27FC236}">
                <a16:creationId xmlns:a16="http://schemas.microsoft.com/office/drawing/2014/main" id="{F9FF0642-522B-41B8-BECF-6A66A842FFBA}"/>
              </a:ext>
            </a:extLst>
          </p:cNvPr>
          <p:cNvSpPr txBox="1"/>
          <p:nvPr/>
        </p:nvSpPr>
        <p:spPr>
          <a:xfrm>
            <a:off x="8153400" y="2875625"/>
            <a:ext cx="3124200" cy="461665"/>
          </a:xfrm>
          <a:prstGeom prst="rect">
            <a:avLst/>
          </a:prstGeom>
          <a:noFill/>
        </p:spPr>
        <p:txBody>
          <a:bodyPr wrap="square" rtlCol="0">
            <a:spAutoFit/>
          </a:bodyPr>
          <a:lstStyle/>
          <a:p>
            <a:r>
              <a:rPr lang="es-ES" sz="1200" dirty="0"/>
              <a:t>En el DC el índice efectivo se usa para hallar la longitud de batido.</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Por tanto, para obtener una transferencia completa de energía entre guías de onda, se necesitará una longitud (L) igual a la longitud de batido (</a:t>
            </a:r>
            <a:r>
              <a:rPr lang="es-ES" sz="1200" dirty="0" err="1">
                <a:latin typeface="Arial" panose="020B0604020202020204" pitchFamily="34" charset="0"/>
                <a:cs typeface="Arial" panose="020B0604020202020204" pitchFamily="34" charset="0"/>
              </a:rPr>
              <a:t>L_pi</a:t>
            </a:r>
            <a:r>
              <a:rPr lang="es-ES" sz="1200" dirty="0">
                <a:latin typeface="Arial" panose="020B0604020202020204" pitchFamily="34" charset="0"/>
                <a:cs typeface="Arial" panose="020B0604020202020204" pitchFamily="34" charset="0"/>
              </a:rPr>
              <a:t>). Por otra parte, para obtener una división de la potencia a la mitad se necesita una longitud (L) de la mitad de la longitud de batido (</a:t>
            </a:r>
            <a:r>
              <a:rPr lang="es-ES" sz="1200" dirty="0" err="1">
                <a:latin typeface="Arial" panose="020B0604020202020204" pitchFamily="34" charset="0"/>
                <a:cs typeface="Arial" panose="020B0604020202020204" pitchFamily="34" charset="0"/>
              </a:rPr>
              <a:t>L_pi</a:t>
            </a:r>
            <a:r>
              <a:rPr lang="es-ES" sz="12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K vs L/</a:t>
            </a:r>
            <a:r>
              <a:rPr lang="en-US" dirty="0" err="1"/>
              <a:t>Lpi</a:t>
            </a:r>
            <a:r>
              <a:rPr lang="en-US" dirty="0"/>
              <a:t>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639DB798-21EF-485D-976A-2DE43EF48492}"/>
              </a:ext>
            </a:extLst>
          </p:cNvPr>
          <p:cNvPicPr>
            <a:picLocks noChangeAspect="1"/>
          </p:cNvPicPr>
          <p:nvPr/>
        </p:nvPicPr>
        <p:blipFill>
          <a:blip r:embed="rId6"/>
          <a:stretch>
            <a:fillRect/>
          </a:stretch>
        </p:blipFill>
        <p:spPr>
          <a:xfrm>
            <a:off x="4876800" y="1536921"/>
            <a:ext cx="4877435" cy="3153613"/>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Gap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583019" y="4889565"/>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Se ha </a:t>
            </a:r>
            <a:r>
              <a:rPr lang="en-US" sz="1200" dirty="0" err="1">
                <a:latin typeface="Arial" panose="020B0604020202020204" pitchFamily="34" charset="0"/>
                <a:cs typeface="Arial" panose="020B0604020202020204" pitchFamily="34" charset="0"/>
              </a:rPr>
              <a:t>realizado</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gráfica</a:t>
            </a:r>
            <a:r>
              <a:rPr lang="en-US" sz="1200" dirty="0">
                <a:latin typeface="Arial" panose="020B0604020202020204" pitchFamily="34" charset="0"/>
                <a:cs typeface="Arial" panose="020B0604020202020204" pitchFamily="34" charset="0"/>
              </a:rPr>
              <a:t> que </a:t>
            </a:r>
            <a:r>
              <a:rPr lang="en-US" sz="1200" dirty="0" err="1">
                <a:latin typeface="Arial" panose="020B0604020202020204" pitchFamily="34" charset="0"/>
                <a:cs typeface="Arial" panose="020B0604020202020204" pitchFamily="34" charset="0"/>
              </a:rPr>
              <a:t>muestra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cambio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batido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del gap entre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Podemos </a:t>
            </a:r>
            <a:r>
              <a:rPr lang="en-US" sz="1200" dirty="0" err="1">
                <a:latin typeface="Arial" panose="020B0604020202020204" pitchFamily="34" charset="0"/>
                <a:cs typeface="Arial" panose="020B0604020202020204" pitchFamily="34" charset="0"/>
              </a:rPr>
              <a:t>observar</a:t>
            </a:r>
            <a:r>
              <a:rPr lang="en-US" sz="1200" dirty="0">
                <a:latin typeface="Arial" panose="020B0604020202020204" pitchFamily="34" charset="0"/>
                <a:cs typeface="Arial" panose="020B0604020202020204" pitchFamily="34" charset="0"/>
              </a:rPr>
              <a:t> que hay un </a:t>
            </a:r>
            <a:r>
              <a:rPr lang="en-US" sz="1200" dirty="0" err="1">
                <a:latin typeface="Arial" panose="020B0604020202020204" pitchFamily="34" charset="0"/>
                <a:cs typeface="Arial" panose="020B0604020202020204" pitchFamily="34" charset="0"/>
              </a:rPr>
              <a:t>aumento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medida</a:t>
            </a:r>
            <a:r>
              <a:rPr lang="en-US" sz="1200" dirty="0">
                <a:latin typeface="Arial" panose="020B0604020202020204" pitchFamily="34" charset="0"/>
                <a:cs typeface="Arial" panose="020B0604020202020204" pitchFamily="34" charset="0"/>
              </a:rPr>
              <a:t> que se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gap, </a:t>
            </a:r>
            <a:r>
              <a:rPr lang="en-US" sz="1200" dirty="0" err="1">
                <a:latin typeface="Arial" panose="020B0604020202020204" pitchFamily="34" charset="0"/>
                <a:cs typeface="Arial" panose="020B0604020202020204" pitchFamily="34" charset="0"/>
              </a:rPr>
              <a:t>esto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que al </a:t>
            </a:r>
            <a:r>
              <a:rPr lang="en-US" sz="1200" dirty="0" err="1">
                <a:latin typeface="Arial" panose="020B0604020202020204" pitchFamily="34" charset="0"/>
                <a:cs typeface="Arial" panose="020B0604020202020204" pitchFamily="34" charset="0"/>
              </a:rPr>
              <a:t>estar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lejos</a:t>
            </a:r>
            <a:r>
              <a:rPr lang="en-US" sz="1200" dirty="0">
                <a:latin typeface="Arial" panose="020B0604020202020204" pitchFamily="34" charset="0"/>
                <a:cs typeface="Arial" panose="020B0604020202020204" pitchFamily="34" charset="0"/>
              </a:rPr>
              <a:t>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intercambia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energía</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estas</a:t>
            </a:r>
            <a:r>
              <a:rPr lang="en-US" sz="1200" dirty="0">
                <a:latin typeface="Arial" panose="020B0604020202020204" pitchFamily="34" charset="0"/>
                <a:cs typeface="Arial" panose="020B0604020202020204" pitchFamily="34" charset="0"/>
              </a:rPr>
              <a:t>, por lo que se </a:t>
            </a:r>
            <a:r>
              <a:rPr lang="en-US" sz="1200" dirty="0" err="1">
                <a:latin typeface="Arial" panose="020B0604020202020204" pitchFamily="34" charset="0"/>
                <a:cs typeface="Arial" panose="020B0604020202020204" pitchFamily="34" charset="0"/>
              </a:rPr>
              <a:t>necesita</a:t>
            </a:r>
            <a:r>
              <a:rPr lang="en-US" sz="1200" dirty="0">
                <a:latin typeface="Arial" panose="020B0604020202020204" pitchFamily="34" charset="0"/>
                <a:cs typeface="Arial" panose="020B0604020202020204" pitchFamily="34" charset="0"/>
              </a:rPr>
              <a:t> una longitude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grande</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poder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toda</a:t>
            </a:r>
            <a:r>
              <a:rPr lang="en-US" sz="1200" dirty="0">
                <a:latin typeface="Arial" panose="020B0604020202020204" pitchFamily="34" charset="0"/>
                <a:cs typeface="Arial" panose="020B0604020202020204" pitchFamily="34" charset="0"/>
              </a:rPr>
              <a:t> la luz de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No obstante, al </a:t>
            </a:r>
            <a:r>
              <a:rPr lang="en-US" sz="1200" dirty="0" err="1">
                <a:latin typeface="Arial" panose="020B0604020202020204" pitchFamily="34" charset="0"/>
                <a:cs typeface="Arial" panose="020B0604020202020204" pitchFamily="34" charset="0"/>
              </a:rPr>
              <a:t>hacer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dispositivo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largo, </a:t>
            </a:r>
            <a:r>
              <a:rPr lang="en-US" sz="1200" dirty="0" err="1">
                <a:latin typeface="Arial" panose="020B0604020202020204" pitchFamily="34" charset="0"/>
                <a:cs typeface="Arial" panose="020B0604020202020204" pitchFamily="34" charset="0"/>
              </a:rPr>
              <a:t>habrán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mayores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perdidas</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pic>
        <p:nvPicPr>
          <p:cNvPr id="6" name="Imagen 5">
            <a:extLst>
              <a:ext uri="{FF2B5EF4-FFF2-40B4-BE49-F238E27FC236}">
                <a16:creationId xmlns:a16="http://schemas.microsoft.com/office/drawing/2014/main" id="{F1D5D206-4269-46CA-AE98-83E2412ABD84}"/>
              </a:ext>
            </a:extLst>
          </p:cNvPr>
          <p:cNvPicPr>
            <a:picLocks noChangeAspect="1"/>
          </p:cNvPicPr>
          <p:nvPr/>
        </p:nvPicPr>
        <p:blipFill>
          <a:blip r:embed="rId5"/>
          <a:stretch>
            <a:fillRect/>
          </a:stretch>
        </p:blipFill>
        <p:spPr>
          <a:xfrm>
            <a:off x="4038600" y="1484265"/>
            <a:ext cx="4114800" cy="3227990"/>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43ED34-A14D-4A6E-B8F4-17FFD9B09985}"/>
              </a:ext>
            </a:extLst>
          </p:cNvPr>
          <p:cNvSpPr>
            <a:spLocks noGrp="1"/>
          </p:cNvSpPr>
          <p:nvPr>
            <p:ph type="title"/>
          </p:nvPr>
        </p:nvSpPr>
        <p:spPr/>
        <p:txBody>
          <a:bodyPr/>
          <a:lstStyle/>
          <a:p>
            <a:r>
              <a:rPr lang="es-ES" dirty="0" err="1"/>
              <a:t>Propagation</a:t>
            </a:r>
            <a:r>
              <a:rPr lang="es-ES" dirty="0"/>
              <a:t> </a:t>
            </a:r>
            <a:r>
              <a:rPr lang="es-ES" dirty="0" err="1"/>
              <a:t>plots</a:t>
            </a:r>
            <a:r>
              <a:rPr lang="es-ES" dirty="0"/>
              <a:t> </a:t>
            </a:r>
            <a:r>
              <a:rPr lang="es-ES" dirty="0" err="1"/>
              <a:t>for</a:t>
            </a:r>
            <a:r>
              <a:rPr lang="es-ES" dirty="0"/>
              <a:t> </a:t>
            </a:r>
            <a:r>
              <a:rPr lang="es-ES" dirty="0" err="1"/>
              <a:t>each</a:t>
            </a:r>
            <a:r>
              <a:rPr lang="es-ES" dirty="0"/>
              <a:t> gap </a:t>
            </a:r>
            <a:r>
              <a:rPr lang="es-ES" dirty="0" err="1"/>
              <a:t>between</a:t>
            </a:r>
            <a:r>
              <a:rPr lang="es-ES" dirty="0"/>
              <a:t> </a:t>
            </a:r>
            <a:r>
              <a:rPr lang="en-US" dirty="0"/>
              <a:t>0.6 - 1.6 µm (step 0.1 µm)</a:t>
            </a:r>
            <a:endParaRPr lang="es-ES" dirty="0"/>
          </a:p>
        </p:txBody>
      </p:sp>
      <p:sp>
        <p:nvSpPr>
          <p:cNvPr id="4" name="Marcador de pie de página 3">
            <a:extLst>
              <a:ext uri="{FF2B5EF4-FFF2-40B4-BE49-F238E27FC236}">
                <a16:creationId xmlns:a16="http://schemas.microsoft.com/office/drawing/2014/main" id="{9E771CBF-5C82-482D-923C-D4E6E77ECE0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B0E895DD-4DDF-49D4-993B-E9F3D1EC9FFB}"/>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7" name="Imagen 6">
            <a:extLst>
              <a:ext uri="{FF2B5EF4-FFF2-40B4-BE49-F238E27FC236}">
                <a16:creationId xmlns:a16="http://schemas.microsoft.com/office/drawing/2014/main" id="{9B4A4D68-8EE2-4129-A570-C1FFFC38DAAF}"/>
              </a:ext>
            </a:extLst>
          </p:cNvPr>
          <p:cNvPicPr>
            <a:picLocks noChangeAspect="1"/>
          </p:cNvPicPr>
          <p:nvPr/>
        </p:nvPicPr>
        <p:blipFill>
          <a:blip r:embed="rId2"/>
          <a:stretch>
            <a:fillRect/>
          </a:stretch>
        </p:blipFill>
        <p:spPr>
          <a:xfrm>
            <a:off x="609599" y="838200"/>
            <a:ext cx="4341395" cy="1104126"/>
          </a:xfrm>
          <a:prstGeom prst="rect">
            <a:avLst/>
          </a:prstGeom>
        </p:spPr>
      </p:pic>
      <p:pic>
        <p:nvPicPr>
          <p:cNvPr id="8" name="Imagen 7">
            <a:extLst>
              <a:ext uri="{FF2B5EF4-FFF2-40B4-BE49-F238E27FC236}">
                <a16:creationId xmlns:a16="http://schemas.microsoft.com/office/drawing/2014/main" id="{F9668BE0-230A-4D72-8A9C-718E3034D8AC}"/>
              </a:ext>
            </a:extLst>
          </p:cNvPr>
          <p:cNvPicPr>
            <a:picLocks noChangeAspect="1"/>
          </p:cNvPicPr>
          <p:nvPr/>
        </p:nvPicPr>
        <p:blipFill>
          <a:blip r:embed="rId3"/>
          <a:stretch>
            <a:fillRect/>
          </a:stretch>
        </p:blipFill>
        <p:spPr>
          <a:xfrm>
            <a:off x="609593" y="1867477"/>
            <a:ext cx="4341401" cy="998973"/>
          </a:xfrm>
          <a:prstGeom prst="rect">
            <a:avLst/>
          </a:prstGeom>
        </p:spPr>
      </p:pic>
      <p:pic>
        <p:nvPicPr>
          <p:cNvPr id="10" name="Imagen 9">
            <a:extLst>
              <a:ext uri="{FF2B5EF4-FFF2-40B4-BE49-F238E27FC236}">
                <a16:creationId xmlns:a16="http://schemas.microsoft.com/office/drawing/2014/main" id="{1B391061-3F8E-4898-8597-8AEB14C95C33}"/>
              </a:ext>
            </a:extLst>
          </p:cNvPr>
          <p:cNvPicPr>
            <a:picLocks noChangeAspect="1"/>
          </p:cNvPicPr>
          <p:nvPr/>
        </p:nvPicPr>
        <p:blipFill>
          <a:blip r:embed="rId4"/>
          <a:stretch>
            <a:fillRect/>
          </a:stretch>
        </p:blipFill>
        <p:spPr>
          <a:xfrm>
            <a:off x="609593" y="2843823"/>
            <a:ext cx="4341401" cy="916351"/>
          </a:xfrm>
          <a:prstGeom prst="rect">
            <a:avLst/>
          </a:prstGeom>
        </p:spPr>
      </p:pic>
      <p:pic>
        <p:nvPicPr>
          <p:cNvPr id="12" name="Imagen 11">
            <a:extLst>
              <a:ext uri="{FF2B5EF4-FFF2-40B4-BE49-F238E27FC236}">
                <a16:creationId xmlns:a16="http://schemas.microsoft.com/office/drawing/2014/main" id="{52B3D118-9F8D-4E9A-8F0B-4AEB6C65063A}"/>
              </a:ext>
            </a:extLst>
          </p:cNvPr>
          <p:cNvPicPr>
            <a:picLocks noChangeAspect="1"/>
          </p:cNvPicPr>
          <p:nvPr/>
        </p:nvPicPr>
        <p:blipFill>
          <a:blip r:embed="rId5"/>
          <a:stretch>
            <a:fillRect/>
          </a:stretch>
        </p:blipFill>
        <p:spPr>
          <a:xfrm>
            <a:off x="609593" y="3756680"/>
            <a:ext cx="4341402" cy="856263"/>
          </a:xfrm>
          <a:prstGeom prst="rect">
            <a:avLst/>
          </a:prstGeom>
        </p:spPr>
      </p:pic>
      <p:pic>
        <p:nvPicPr>
          <p:cNvPr id="14" name="Imagen 13">
            <a:extLst>
              <a:ext uri="{FF2B5EF4-FFF2-40B4-BE49-F238E27FC236}">
                <a16:creationId xmlns:a16="http://schemas.microsoft.com/office/drawing/2014/main" id="{42910353-9139-4C23-952B-2AE127801635}"/>
              </a:ext>
            </a:extLst>
          </p:cNvPr>
          <p:cNvPicPr>
            <a:picLocks noChangeAspect="1"/>
          </p:cNvPicPr>
          <p:nvPr/>
        </p:nvPicPr>
        <p:blipFill>
          <a:blip r:embed="rId6"/>
          <a:stretch>
            <a:fillRect/>
          </a:stretch>
        </p:blipFill>
        <p:spPr>
          <a:xfrm>
            <a:off x="620172" y="4600717"/>
            <a:ext cx="4341401" cy="803685"/>
          </a:xfrm>
          <a:prstGeom prst="rect">
            <a:avLst/>
          </a:prstGeom>
        </p:spPr>
      </p:pic>
      <p:pic>
        <p:nvPicPr>
          <p:cNvPr id="16" name="Imagen 15">
            <a:extLst>
              <a:ext uri="{FF2B5EF4-FFF2-40B4-BE49-F238E27FC236}">
                <a16:creationId xmlns:a16="http://schemas.microsoft.com/office/drawing/2014/main" id="{1A4A0DD5-D810-4F77-B4E0-2979AB33D0B1}"/>
              </a:ext>
            </a:extLst>
          </p:cNvPr>
          <p:cNvPicPr>
            <a:picLocks noChangeAspect="1"/>
          </p:cNvPicPr>
          <p:nvPr/>
        </p:nvPicPr>
        <p:blipFill>
          <a:blip r:embed="rId7"/>
          <a:stretch>
            <a:fillRect/>
          </a:stretch>
        </p:blipFill>
        <p:spPr>
          <a:xfrm>
            <a:off x="599017" y="5401487"/>
            <a:ext cx="4341395" cy="766129"/>
          </a:xfrm>
          <a:prstGeom prst="rect">
            <a:avLst/>
          </a:prstGeom>
        </p:spPr>
      </p:pic>
      <p:pic>
        <p:nvPicPr>
          <p:cNvPr id="18" name="Imagen 17">
            <a:extLst>
              <a:ext uri="{FF2B5EF4-FFF2-40B4-BE49-F238E27FC236}">
                <a16:creationId xmlns:a16="http://schemas.microsoft.com/office/drawing/2014/main" id="{FE48C53E-1FE3-41C5-A922-9A22805A30FD}"/>
              </a:ext>
            </a:extLst>
          </p:cNvPr>
          <p:cNvPicPr>
            <a:picLocks noChangeAspect="1"/>
          </p:cNvPicPr>
          <p:nvPr/>
        </p:nvPicPr>
        <p:blipFill>
          <a:blip r:embed="rId8"/>
          <a:stretch>
            <a:fillRect/>
          </a:stretch>
        </p:blipFill>
        <p:spPr>
          <a:xfrm>
            <a:off x="5791200" y="838200"/>
            <a:ext cx="4341396" cy="736085"/>
          </a:xfrm>
          <a:prstGeom prst="rect">
            <a:avLst/>
          </a:prstGeom>
        </p:spPr>
      </p:pic>
      <p:pic>
        <p:nvPicPr>
          <p:cNvPr id="20" name="Imagen 19">
            <a:extLst>
              <a:ext uri="{FF2B5EF4-FFF2-40B4-BE49-F238E27FC236}">
                <a16:creationId xmlns:a16="http://schemas.microsoft.com/office/drawing/2014/main" id="{36E77304-8992-4F72-8D3E-D10C10C02EF2}"/>
              </a:ext>
            </a:extLst>
          </p:cNvPr>
          <p:cNvPicPr>
            <a:picLocks noChangeAspect="1"/>
          </p:cNvPicPr>
          <p:nvPr/>
        </p:nvPicPr>
        <p:blipFill>
          <a:blip r:embed="rId9"/>
          <a:stretch>
            <a:fillRect/>
          </a:stretch>
        </p:blipFill>
        <p:spPr>
          <a:xfrm>
            <a:off x="5791200" y="1577906"/>
            <a:ext cx="4341394" cy="713551"/>
          </a:xfrm>
          <a:prstGeom prst="rect">
            <a:avLst/>
          </a:prstGeom>
        </p:spPr>
      </p:pic>
      <p:pic>
        <p:nvPicPr>
          <p:cNvPr id="22" name="Imagen 21">
            <a:extLst>
              <a:ext uri="{FF2B5EF4-FFF2-40B4-BE49-F238E27FC236}">
                <a16:creationId xmlns:a16="http://schemas.microsoft.com/office/drawing/2014/main" id="{64294B9B-C3F9-4932-8522-139DA0BF0EAF}"/>
              </a:ext>
            </a:extLst>
          </p:cNvPr>
          <p:cNvPicPr>
            <a:picLocks noChangeAspect="1"/>
          </p:cNvPicPr>
          <p:nvPr/>
        </p:nvPicPr>
        <p:blipFill>
          <a:blip r:embed="rId10"/>
          <a:stretch>
            <a:fillRect/>
          </a:stretch>
        </p:blipFill>
        <p:spPr>
          <a:xfrm>
            <a:off x="5791200" y="2291457"/>
            <a:ext cx="4341399" cy="691018"/>
          </a:xfrm>
          <a:prstGeom prst="rect">
            <a:avLst/>
          </a:prstGeom>
        </p:spPr>
      </p:pic>
      <p:pic>
        <p:nvPicPr>
          <p:cNvPr id="24" name="Imagen 23">
            <a:extLst>
              <a:ext uri="{FF2B5EF4-FFF2-40B4-BE49-F238E27FC236}">
                <a16:creationId xmlns:a16="http://schemas.microsoft.com/office/drawing/2014/main" id="{8A7977DA-AD60-4E68-B777-A03669F1B05F}"/>
              </a:ext>
            </a:extLst>
          </p:cNvPr>
          <p:cNvPicPr>
            <a:picLocks noChangeAspect="1"/>
          </p:cNvPicPr>
          <p:nvPr/>
        </p:nvPicPr>
        <p:blipFill>
          <a:blip r:embed="rId11"/>
          <a:stretch>
            <a:fillRect/>
          </a:stretch>
        </p:blipFill>
        <p:spPr>
          <a:xfrm>
            <a:off x="5791200" y="2982475"/>
            <a:ext cx="4341395" cy="683507"/>
          </a:xfrm>
          <a:prstGeom prst="rect">
            <a:avLst/>
          </a:prstGeom>
        </p:spPr>
      </p:pic>
      <p:pic>
        <p:nvPicPr>
          <p:cNvPr id="26" name="Imagen 25">
            <a:extLst>
              <a:ext uri="{FF2B5EF4-FFF2-40B4-BE49-F238E27FC236}">
                <a16:creationId xmlns:a16="http://schemas.microsoft.com/office/drawing/2014/main" id="{3A84F086-2E10-48CA-9408-1A0AC3EAD974}"/>
              </a:ext>
            </a:extLst>
          </p:cNvPr>
          <p:cNvPicPr>
            <a:picLocks noChangeAspect="1"/>
          </p:cNvPicPr>
          <p:nvPr/>
        </p:nvPicPr>
        <p:blipFill>
          <a:blip r:embed="rId12"/>
          <a:stretch>
            <a:fillRect/>
          </a:stretch>
        </p:blipFill>
        <p:spPr>
          <a:xfrm>
            <a:off x="5791200" y="3661119"/>
            <a:ext cx="4341395" cy="668485"/>
          </a:xfrm>
          <a:prstGeom prst="rect">
            <a:avLst/>
          </a:prstGeom>
        </p:spPr>
      </p:pic>
    </p:spTree>
    <p:extLst>
      <p:ext uri="{BB962C8B-B14F-4D97-AF65-F5344CB8AC3E}">
        <p14:creationId xmlns:p14="http://schemas.microsoft.com/office/powerpoint/2010/main" val="25914391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La </a:t>
            </a:r>
            <a:r>
              <a:rPr lang="en-US" sz="1200" dirty="0" err="1">
                <a:latin typeface="Arial" panose="020B0604020202020204" pitchFamily="34" charset="0"/>
                <a:cs typeface="Arial" panose="020B0604020202020204" pitchFamily="34" charset="0"/>
              </a:rPr>
              <a:t>distancia</a:t>
            </a:r>
            <a:r>
              <a:rPr lang="en-US" sz="1200" dirty="0">
                <a:latin typeface="Arial" panose="020B0604020202020204" pitchFamily="34" charset="0"/>
                <a:cs typeface="Arial" panose="020B0604020202020204" pitchFamily="34" charset="0"/>
              </a:rPr>
              <a:t> para la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no </a:t>
            </a:r>
            <a:r>
              <a:rPr lang="en-US" sz="1200" dirty="0" err="1">
                <a:latin typeface="Arial" panose="020B0604020202020204" pitchFamily="34" charset="0"/>
                <a:cs typeface="Arial" panose="020B0604020202020204" pitchFamily="34" charset="0"/>
              </a:rPr>
              <a:t>sufre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de una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con un </a:t>
            </a:r>
            <a:r>
              <a:rPr lang="en-US" sz="1200" dirty="0" err="1">
                <a:latin typeface="Arial" panose="020B0604020202020204" pitchFamily="34" charset="0"/>
                <a:cs typeface="Arial" panose="020B0604020202020204" pitchFamily="34" charset="0"/>
              </a:rPr>
              <a:t>coeficiente</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K=0.1</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L_pi</a:t>
            </a:r>
            <a:r>
              <a:rPr lang="en-US" sz="1200" dirty="0">
                <a:latin typeface="Arial" panose="020B0604020202020204" pitchFamily="34" charset="0"/>
                <a:cs typeface="Arial" panose="020B0604020202020204" pitchFamily="34" charset="0"/>
              </a:rPr>
              <a:t> =  69.03598607255049  µm</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Distancia para obtener una imagen con dos salidas = </a:t>
            </a:r>
            <a:r>
              <a:rPr lang="es-ES" sz="1200" dirty="0" err="1">
                <a:latin typeface="Arial" panose="020B0604020202020204" pitchFamily="34" charset="0"/>
                <a:cs typeface="Arial" panose="020B0604020202020204" pitchFamily="34" charset="0"/>
              </a:rPr>
              <a:t>L_pi</a:t>
            </a:r>
            <a:r>
              <a:rPr lang="es-ES" sz="1200" dirty="0">
                <a:latin typeface="Arial" panose="020B0604020202020204" pitchFamily="34" charset="0"/>
                <a:cs typeface="Arial" panose="020B0604020202020204" pitchFamily="34" charset="0"/>
              </a:rPr>
              <a:t>/2 = 34.52 µm</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pic>
        <p:nvPicPr>
          <p:cNvPr id="9" name="Imagen 8">
            <a:extLst>
              <a:ext uri="{FF2B5EF4-FFF2-40B4-BE49-F238E27FC236}">
                <a16:creationId xmlns:a16="http://schemas.microsoft.com/office/drawing/2014/main" id="{9BCE17F0-A639-467B-9595-2BDBCFE50D4D}"/>
              </a:ext>
            </a:extLst>
          </p:cNvPr>
          <p:cNvPicPr>
            <a:picLocks noChangeAspect="1"/>
          </p:cNvPicPr>
          <p:nvPr/>
        </p:nvPicPr>
        <p:blipFill>
          <a:blip r:embed="rId5"/>
          <a:stretch>
            <a:fillRect/>
          </a:stretch>
        </p:blipFill>
        <p:spPr>
          <a:xfrm>
            <a:off x="4098056" y="1387610"/>
            <a:ext cx="3995888" cy="3295928"/>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200329"/>
          </a:xfrm>
          <a:prstGeom prst="rect">
            <a:avLst/>
          </a:prstGeom>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919EE04-608E-4B8E-B687-7B8B2C35C0E6}"/>
              </a:ext>
            </a:extLst>
          </p:cNvPr>
          <p:cNvSpPr>
            <a:spLocks noGrp="1"/>
          </p:cNvSpPr>
          <p:nvPr>
            <p:ph type="title"/>
          </p:nvPr>
        </p:nvSpPr>
        <p:spPr/>
        <p:txBody>
          <a:bodyPr/>
          <a:lstStyle/>
          <a:p>
            <a:r>
              <a:rPr lang="es-ES" dirty="0"/>
              <a:t>Resolución </a:t>
            </a:r>
            <a:r>
              <a:rPr lang="en-US" sz="2000" dirty="0"/>
              <a:t>Learning outcome #4.2</a:t>
            </a:r>
            <a:endParaRPr lang="es-ES" dirty="0"/>
          </a:p>
        </p:txBody>
      </p:sp>
      <p:sp>
        <p:nvSpPr>
          <p:cNvPr id="3" name="Marcador de texto 2">
            <a:extLst>
              <a:ext uri="{FF2B5EF4-FFF2-40B4-BE49-F238E27FC236}">
                <a16:creationId xmlns:a16="http://schemas.microsoft.com/office/drawing/2014/main" id="{F25E8729-3742-4527-A81D-59CD52779EE7}"/>
              </a:ext>
            </a:extLst>
          </p:cNvPr>
          <p:cNvSpPr>
            <a:spLocks noGrp="1"/>
          </p:cNvSpPr>
          <p:nvPr>
            <p:ph type="body" idx="1"/>
          </p:nvPr>
        </p:nvSpPr>
        <p:spPr>
          <a:xfrm>
            <a:off x="590550" y="5037559"/>
            <a:ext cx="10972800" cy="369332"/>
          </a:xfrm>
        </p:spPr>
        <p:txBody>
          <a:bodyPr/>
          <a:lstStyle/>
          <a:p>
            <a:r>
              <a:rPr lang="es-ES" sz="1200" dirty="0">
                <a:latin typeface="Arial" panose="020B0604020202020204" pitchFamily="34" charset="0"/>
                <a:cs typeface="Arial" panose="020B0604020202020204" pitchFamily="34" charset="0"/>
              </a:rPr>
              <a:t>Para los valores de </a:t>
            </a:r>
            <a:r>
              <a:rPr lang="es-ES" sz="1200" dirty="0" err="1">
                <a:latin typeface="Arial" panose="020B0604020202020204" pitchFamily="34" charset="0"/>
                <a:cs typeface="Arial" panose="020B0604020202020204" pitchFamily="34" charset="0"/>
              </a:rPr>
              <a:t>dL_MMI</a:t>
            </a:r>
            <a:r>
              <a:rPr lang="es-ES" sz="1200" dirty="0">
                <a:latin typeface="Arial" panose="020B0604020202020204" pitchFamily="34" charset="0"/>
                <a:cs typeface="Arial" panose="020B0604020202020204" pitchFamily="34" charset="0"/>
              </a:rPr>
              <a:t> = -0.4 µm y </a:t>
            </a:r>
            <a:r>
              <a:rPr lang="es-ES" sz="1200" dirty="0" err="1">
                <a:latin typeface="Arial" panose="020B0604020202020204" pitchFamily="34" charset="0"/>
                <a:cs typeface="Arial" panose="020B0604020202020204" pitchFamily="34" charset="0"/>
              </a:rPr>
              <a:t>dy</a:t>
            </a:r>
            <a:r>
              <a:rPr lang="es-ES" sz="1200" dirty="0">
                <a:latin typeface="Arial" panose="020B0604020202020204" pitchFamily="34" charset="0"/>
                <a:cs typeface="Arial" panose="020B0604020202020204" pitchFamily="34" charset="0"/>
              </a:rPr>
              <a:t> = 0.05 µm se obtiene el mínimo valor de </a:t>
            </a:r>
            <a:r>
              <a:rPr lang="es-ES" sz="1200" dirty="0" err="1">
                <a:latin typeface="Arial" panose="020B0604020202020204" pitchFamily="34" charset="0"/>
                <a:cs typeface="Arial" panose="020B0604020202020204" pitchFamily="34" charset="0"/>
              </a:rPr>
              <a:t>excess</a:t>
            </a:r>
            <a:r>
              <a:rPr lang="es-ES" sz="1200" dirty="0">
                <a:latin typeface="Arial" panose="020B0604020202020204" pitchFamily="34" charset="0"/>
                <a:cs typeface="Arial" panose="020B0604020202020204" pitchFamily="34" charset="0"/>
              </a:rPr>
              <a:t> </a:t>
            </a:r>
            <a:r>
              <a:rPr lang="es-ES" sz="1200" dirty="0" err="1">
                <a:latin typeface="Arial" panose="020B0604020202020204" pitchFamily="34" charset="0"/>
                <a:cs typeface="Arial" panose="020B0604020202020204" pitchFamily="34" charset="0"/>
              </a:rPr>
              <a:t>loss</a:t>
            </a:r>
            <a:r>
              <a:rPr lang="es-ES" sz="1200" dirty="0">
                <a:latin typeface="Arial" panose="020B0604020202020204" pitchFamily="34" charset="0"/>
                <a:cs typeface="Arial" panose="020B0604020202020204" pitchFamily="34" charset="0"/>
              </a:rPr>
              <a:t> =  0.3429 dB. A la derecha se puede observar la propagación con estas especificaciones para el MMI. </a:t>
            </a:r>
          </a:p>
        </p:txBody>
      </p:sp>
      <p:sp>
        <p:nvSpPr>
          <p:cNvPr id="4" name="Marcador de pie de página 3">
            <a:extLst>
              <a:ext uri="{FF2B5EF4-FFF2-40B4-BE49-F238E27FC236}">
                <a16:creationId xmlns:a16="http://schemas.microsoft.com/office/drawing/2014/main" id="{C5EDBD82-056D-4F51-8607-3FBE8F0A5BD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95826EC4-A33C-4520-ACF7-D0FDE25B9487}"/>
              </a:ext>
            </a:extLst>
          </p:cNvPr>
          <p:cNvSpPr>
            <a:spLocks noGrp="1"/>
          </p:cNvSpPr>
          <p:nvPr>
            <p:ph type="sldNum" sz="quarter" idx="7"/>
          </p:nvPr>
        </p:nvSpPr>
        <p:spPr/>
        <p:txBody>
          <a:bodyPr/>
          <a:lstStyle/>
          <a:p>
            <a:fld id="{B6F15528-21DE-4FAA-801E-634DDDAF4B2B}" type="slidenum">
              <a:rPr lang="es-ES" smtClean="0"/>
              <a:t>11</a:t>
            </a:fld>
            <a:endParaRPr lang="es-ES"/>
          </a:p>
        </p:txBody>
      </p:sp>
      <p:pic>
        <p:nvPicPr>
          <p:cNvPr id="6" name="Imagen 5">
            <a:extLst>
              <a:ext uri="{FF2B5EF4-FFF2-40B4-BE49-F238E27FC236}">
                <a16:creationId xmlns:a16="http://schemas.microsoft.com/office/drawing/2014/main" id="{46DEF932-7029-4E49-B61A-86DCDEED6915}"/>
              </a:ext>
            </a:extLst>
          </p:cNvPr>
          <p:cNvPicPr>
            <a:picLocks noChangeAspect="1"/>
          </p:cNvPicPr>
          <p:nvPr/>
        </p:nvPicPr>
        <p:blipFill>
          <a:blip r:embed="rId2"/>
          <a:stretch>
            <a:fillRect/>
          </a:stretch>
        </p:blipFill>
        <p:spPr>
          <a:xfrm>
            <a:off x="838200" y="1406461"/>
            <a:ext cx="3124200" cy="2888411"/>
          </a:xfrm>
          <a:prstGeom prst="rect">
            <a:avLst/>
          </a:prstGeom>
        </p:spPr>
      </p:pic>
      <p:pic>
        <p:nvPicPr>
          <p:cNvPr id="7" name="Imagen 6">
            <a:extLst>
              <a:ext uri="{FF2B5EF4-FFF2-40B4-BE49-F238E27FC236}">
                <a16:creationId xmlns:a16="http://schemas.microsoft.com/office/drawing/2014/main" id="{770355A5-07CC-4DA4-A363-7EB159DF0A29}"/>
              </a:ext>
            </a:extLst>
          </p:cNvPr>
          <p:cNvPicPr>
            <a:picLocks noChangeAspect="1"/>
          </p:cNvPicPr>
          <p:nvPr/>
        </p:nvPicPr>
        <p:blipFill>
          <a:blip r:embed="rId3"/>
          <a:stretch>
            <a:fillRect/>
          </a:stretch>
        </p:blipFill>
        <p:spPr>
          <a:xfrm>
            <a:off x="5029200" y="1726585"/>
            <a:ext cx="5725549" cy="2371289"/>
          </a:xfrm>
          <a:prstGeom prst="rect">
            <a:avLst/>
          </a:prstGeom>
        </p:spPr>
      </p:pic>
    </p:spTree>
    <p:extLst>
      <p:ext uri="{BB962C8B-B14F-4D97-AF65-F5344CB8AC3E}">
        <p14:creationId xmlns:p14="http://schemas.microsoft.com/office/powerpoint/2010/main" val="17140043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texto 2">
            <a:extLst>
              <a:ext uri="{FF2B5EF4-FFF2-40B4-BE49-F238E27FC236}">
                <a16:creationId xmlns:a16="http://schemas.microsoft.com/office/drawing/2014/main" id="{BFB6762D-51C9-4DF7-8526-BF131C202C48}"/>
              </a:ext>
            </a:extLst>
          </p:cNvPr>
          <p:cNvSpPr>
            <a:spLocks noGrp="1"/>
          </p:cNvSpPr>
          <p:nvPr>
            <p:ph type="body" idx="1"/>
          </p:nvPr>
        </p:nvSpPr>
        <p:spPr>
          <a:xfrm>
            <a:off x="4876800" y="2153573"/>
            <a:ext cx="6705600" cy="2585323"/>
          </a:xfrm>
        </p:spPr>
        <p:txBody>
          <a:bodyPr/>
          <a:lstStyle/>
          <a:p>
            <a:r>
              <a:rPr lang="es-ES" sz="1200" dirty="0"/>
              <a:t>Los resultados del barrido paramétrico muestran que el acoplador MMI cumple satisfactoriamente con las especificaciones. Desde el primer incremento de 0.6 µm en el ancho de las guías de acceso, las pérdidas por exceso caen a 0.096 dB (por debajo del límite exigido de 0.1 dB), manteniendo en todo momento una relación de división de potencia muy equilibrada y cercana a 0.5 en los puertos de salida.</a:t>
            </a:r>
          </a:p>
          <a:p>
            <a:endParaRPr lang="es-ES" sz="1200" dirty="0"/>
          </a:p>
          <a:p>
            <a:r>
              <a:rPr lang="es-ES" sz="1200" dirty="0"/>
              <a:t>Al ensanchar progresivamente estas guías de entrada y salida, la adaptación modal hacia la región multimodo es mucho más suave, lo que reduce drásticamente las pérdidas. Un incremento en torno a 1.0 µm destaca como un punto de operación óptimo, ya que minimiza las pérdidas por exceso a tan solo 0.015 dB sin apenas penalizar el balance entre las ramas.</a:t>
            </a:r>
          </a:p>
          <a:p>
            <a:endParaRPr lang="es-ES" sz="1200" dirty="0"/>
          </a:p>
          <a:p>
            <a:r>
              <a:rPr lang="es-ES" sz="1200" dirty="0"/>
              <a:t>Finalmente, para los ensanchamientos mayores (1.3 µm y 1.4 µm), el simulador nos da valores de pérdidas negativos. Al tratarse de un componente pasivo, esto representa un artefacto numérico propio del método de simulación, lo que simplemente nos indica que en esas geometrías las pérdidas reales son virtualmente nulas.</a:t>
            </a:r>
          </a:p>
        </p:txBody>
      </p:sp>
      <p:sp>
        <p:nvSpPr>
          <p:cNvPr id="4" name="Marcador de pie de página 3">
            <a:extLst>
              <a:ext uri="{FF2B5EF4-FFF2-40B4-BE49-F238E27FC236}">
                <a16:creationId xmlns:a16="http://schemas.microsoft.com/office/drawing/2014/main" id="{E07B3D63-2EED-4E27-88FB-3CC136D9602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2E76897-0BB8-4599-ACBE-09BF1E5765CE}"/>
              </a:ext>
            </a:extLst>
          </p:cNvPr>
          <p:cNvSpPr>
            <a:spLocks noGrp="1"/>
          </p:cNvSpPr>
          <p:nvPr>
            <p:ph type="sldNum" sz="quarter" idx="7"/>
          </p:nvPr>
        </p:nvSpPr>
        <p:spPr/>
        <p:txBody>
          <a:bodyPr/>
          <a:lstStyle/>
          <a:p>
            <a:fld id="{B6F15528-21DE-4FAA-801E-634DDDAF4B2B}" type="slidenum">
              <a:rPr lang="es-ES" smtClean="0"/>
              <a:t>13</a:t>
            </a:fld>
            <a:endParaRPr lang="es-ES"/>
          </a:p>
        </p:txBody>
      </p:sp>
      <p:graphicFrame>
        <p:nvGraphicFramePr>
          <p:cNvPr id="6" name="Tabla 5">
            <a:extLst>
              <a:ext uri="{FF2B5EF4-FFF2-40B4-BE49-F238E27FC236}">
                <a16:creationId xmlns:a16="http://schemas.microsoft.com/office/drawing/2014/main" id="{FA1FA2A7-EB5E-4E49-B3C3-269F67776732}"/>
              </a:ext>
            </a:extLst>
          </p:cNvPr>
          <p:cNvGraphicFramePr>
            <a:graphicFrameLocks noGrp="1"/>
          </p:cNvGraphicFramePr>
          <p:nvPr>
            <p:extLst>
              <p:ext uri="{D42A27DB-BD31-4B8C-83A1-F6EECF244321}">
                <p14:modId xmlns:p14="http://schemas.microsoft.com/office/powerpoint/2010/main" val="781047502"/>
              </p:ext>
            </p:extLst>
          </p:nvPr>
        </p:nvGraphicFramePr>
        <p:xfrm>
          <a:off x="609600" y="1371600"/>
          <a:ext cx="3810000" cy="4393760"/>
        </p:xfrm>
        <a:graphic>
          <a:graphicData uri="http://schemas.openxmlformats.org/drawingml/2006/table">
            <a:tbl>
              <a:tblPr>
                <a:tableStyleId>{69CF1AB2-1976-4502-BF36-3FF5EA218861}</a:tableStyleId>
              </a:tblPr>
              <a:tblGrid>
                <a:gridCol w="1219200">
                  <a:extLst>
                    <a:ext uri="{9D8B030D-6E8A-4147-A177-3AD203B41FA5}">
                      <a16:colId xmlns:a16="http://schemas.microsoft.com/office/drawing/2014/main" val="418551341"/>
                    </a:ext>
                  </a:extLst>
                </a:gridCol>
                <a:gridCol w="1219200">
                  <a:extLst>
                    <a:ext uri="{9D8B030D-6E8A-4147-A177-3AD203B41FA5}">
                      <a16:colId xmlns:a16="http://schemas.microsoft.com/office/drawing/2014/main" val="3717760985"/>
                    </a:ext>
                  </a:extLst>
                </a:gridCol>
                <a:gridCol w="1371600">
                  <a:extLst>
                    <a:ext uri="{9D8B030D-6E8A-4147-A177-3AD203B41FA5}">
                      <a16:colId xmlns:a16="http://schemas.microsoft.com/office/drawing/2014/main" val="2118386432"/>
                    </a:ext>
                  </a:extLst>
                </a:gridCol>
              </a:tblGrid>
              <a:tr h="588213">
                <a:tc>
                  <a:txBody>
                    <a:bodyPr/>
                    <a:lstStyle/>
                    <a:p>
                      <a:pPr rtl="0"/>
                      <a:r>
                        <a:rPr lang="es-ES" sz="1200" b="1">
                          <a:solidFill>
                            <a:srgbClr val="1F1F1F"/>
                          </a:solidFill>
                          <a:effectLst/>
                        </a:rPr>
                        <a:t>Incremento ancho I/O (µm)</a:t>
                      </a:r>
                      <a:endParaRPr lang="es-ES" sz="1200">
                        <a:solidFill>
                          <a:srgbClr val="1F1F1F"/>
                        </a:solidFill>
                        <a:effectLst/>
                        <a:latin typeface="Google Sans Text"/>
                      </a:endParaRPr>
                    </a:p>
                  </a:txBody>
                  <a:tcPr marL="71463" marR="89328" marT="119104" marB="119104" anchor="ctr"/>
                </a:tc>
                <a:tc>
                  <a:txBody>
                    <a:bodyPr/>
                    <a:lstStyle/>
                    <a:p>
                      <a:pPr rtl="0"/>
                      <a:r>
                        <a:rPr lang="es-ES" sz="1200" b="1">
                          <a:solidFill>
                            <a:srgbClr val="1F1F1F"/>
                          </a:solidFill>
                          <a:effectLst/>
                        </a:rPr>
                        <a:t>Excess loss [dB]</a:t>
                      </a:r>
                      <a:endParaRPr lang="es-ES" sz="1200">
                        <a:solidFill>
                          <a:srgbClr val="1F1F1F"/>
                        </a:solidFill>
                        <a:effectLst/>
                        <a:latin typeface="Google Sans Text"/>
                      </a:endParaRPr>
                    </a:p>
                  </a:txBody>
                  <a:tcPr marL="71463" marR="89328" marT="119104" marB="119104" anchor="ctr"/>
                </a:tc>
                <a:tc>
                  <a:txBody>
                    <a:bodyPr/>
                    <a:lstStyle/>
                    <a:p>
                      <a:pPr rtl="0"/>
                      <a:r>
                        <a:rPr lang="es-ES" sz="1200" b="1" dirty="0">
                          <a:solidFill>
                            <a:srgbClr val="1F1F1F"/>
                          </a:solidFill>
                          <a:effectLst/>
                        </a:rPr>
                        <a:t>Ratio OUT</a:t>
                      </a:r>
                      <a:endParaRPr lang="es-ES" sz="1200" dirty="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3703569266"/>
                  </a:ext>
                </a:extLst>
              </a:tr>
              <a:tr h="410103">
                <a:tc>
                  <a:txBody>
                    <a:bodyPr/>
                    <a:lstStyle/>
                    <a:p>
                      <a:pPr rtl="0"/>
                      <a:r>
                        <a:rPr lang="es-ES" sz="1200" b="1" dirty="0">
                          <a:solidFill>
                            <a:srgbClr val="1F1F1F"/>
                          </a:solidFill>
                          <a:effectLst/>
                        </a:rPr>
                        <a:t>0.6</a:t>
                      </a:r>
                      <a:endParaRPr lang="es-ES" sz="1200" dirty="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0.0964</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['0.5094', '0.4906']</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1524176688"/>
                  </a:ext>
                </a:extLst>
              </a:tr>
              <a:tr h="410103">
                <a:tc>
                  <a:txBody>
                    <a:bodyPr/>
                    <a:lstStyle/>
                    <a:p>
                      <a:pPr rtl="0"/>
                      <a:r>
                        <a:rPr lang="es-ES" sz="1200" b="1">
                          <a:solidFill>
                            <a:srgbClr val="1F1F1F"/>
                          </a:solidFill>
                          <a:effectLst/>
                        </a:rPr>
                        <a:t>0.7</a:t>
                      </a:r>
                      <a:endParaRPr lang="es-ES" sz="1200">
                        <a:solidFill>
                          <a:srgbClr val="1F1F1F"/>
                        </a:solidFill>
                        <a:effectLst/>
                        <a:latin typeface="Google Sans Text"/>
                      </a:endParaRPr>
                    </a:p>
                  </a:txBody>
                  <a:tcPr marL="71463" marR="89328" marT="119104" marB="119104" anchor="ctr"/>
                </a:tc>
                <a:tc>
                  <a:txBody>
                    <a:bodyPr/>
                    <a:lstStyle/>
                    <a:p>
                      <a:pPr rtl="0"/>
                      <a:r>
                        <a:rPr lang="es-ES" sz="1200" dirty="0">
                          <a:solidFill>
                            <a:srgbClr val="1F1F1F"/>
                          </a:solidFill>
                          <a:effectLst/>
                        </a:rPr>
                        <a:t>0.0702</a:t>
                      </a:r>
                      <a:endParaRPr lang="es-ES" sz="1200" dirty="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['0.5097', '0.4903']</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271857907"/>
                  </a:ext>
                </a:extLst>
              </a:tr>
              <a:tr h="410103">
                <a:tc>
                  <a:txBody>
                    <a:bodyPr/>
                    <a:lstStyle/>
                    <a:p>
                      <a:pPr rtl="0"/>
                      <a:r>
                        <a:rPr lang="es-ES" sz="1200" b="1">
                          <a:solidFill>
                            <a:srgbClr val="1F1F1F"/>
                          </a:solidFill>
                          <a:effectLst/>
                        </a:rPr>
                        <a:t>0.8</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0.0440</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['0.5100', '0.4900']</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3265266826"/>
                  </a:ext>
                </a:extLst>
              </a:tr>
              <a:tr h="410103">
                <a:tc>
                  <a:txBody>
                    <a:bodyPr/>
                    <a:lstStyle/>
                    <a:p>
                      <a:pPr rtl="0"/>
                      <a:r>
                        <a:rPr lang="es-ES" sz="1200" b="1">
                          <a:solidFill>
                            <a:srgbClr val="1F1F1F"/>
                          </a:solidFill>
                          <a:effectLst/>
                        </a:rPr>
                        <a:t>0.9</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0.0290</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['0.5102', '0.4898']</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1837996345"/>
                  </a:ext>
                </a:extLst>
              </a:tr>
              <a:tr h="410103">
                <a:tc>
                  <a:txBody>
                    <a:bodyPr/>
                    <a:lstStyle/>
                    <a:p>
                      <a:pPr rtl="0"/>
                      <a:r>
                        <a:rPr lang="es-ES" sz="1200" b="1">
                          <a:solidFill>
                            <a:srgbClr val="1F1F1F"/>
                          </a:solidFill>
                          <a:effectLst/>
                        </a:rPr>
                        <a:t>1.0</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0.0150</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['0.5105', '0.4895']</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2537061632"/>
                  </a:ext>
                </a:extLst>
              </a:tr>
              <a:tr h="410103">
                <a:tc>
                  <a:txBody>
                    <a:bodyPr/>
                    <a:lstStyle/>
                    <a:p>
                      <a:pPr rtl="0"/>
                      <a:r>
                        <a:rPr lang="es-ES" sz="1200" b="1">
                          <a:solidFill>
                            <a:srgbClr val="1F1F1F"/>
                          </a:solidFill>
                          <a:effectLst/>
                        </a:rPr>
                        <a:t>1.1</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0.0076</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['0.5106', '0.4894']</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2153415897"/>
                  </a:ext>
                </a:extLst>
              </a:tr>
              <a:tr h="410103">
                <a:tc>
                  <a:txBody>
                    <a:bodyPr/>
                    <a:lstStyle/>
                    <a:p>
                      <a:pPr rtl="0"/>
                      <a:r>
                        <a:rPr lang="es-ES" sz="1200" b="1">
                          <a:solidFill>
                            <a:srgbClr val="1F1F1F"/>
                          </a:solidFill>
                          <a:effectLst/>
                        </a:rPr>
                        <a:t>1.2</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0.0002</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['0.5108', '0.4892']</a:t>
                      </a:r>
                      <a:endParaRPr lang="es-ES" sz="120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468093681"/>
                  </a:ext>
                </a:extLst>
              </a:tr>
              <a:tr h="410103">
                <a:tc>
                  <a:txBody>
                    <a:bodyPr/>
                    <a:lstStyle/>
                    <a:p>
                      <a:pPr rtl="0"/>
                      <a:r>
                        <a:rPr lang="es-ES" sz="1200" b="1">
                          <a:solidFill>
                            <a:srgbClr val="1F1F1F"/>
                          </a:solidFill>
                          <a:effectLst/>
                        </a:rPr>
                        <a:t>1.3</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-0.0034</a:t>
                      </a:r>
                      <a:endParaRPr lang="es-ES" sz="1200">
                        <a:solidFill>
                          <a:srgbClr val="1F1F1F"/>
                        </a:solidFill>
                        <a:effectLst/>
                        <a:latin typeface="Google Sans Text"/>
                      </a:endParaRPr>
                    </a:p>
                  </a:txBody>
                  <a:tcPr marL="71463" marR="89328" marT="119104" marB="119104" anchor="ctr"/>
                </a:tc>
                <a:tc>
                  <a:txBody>
                    <a:bodyPr/>
                    <a:lstStyle/>
                    <a:p>
                      <a:pPr rtl="0"/>
                      <a:r>
                        <a:rPr lang="es-ES" sz="1200" dirty="0">
                          <a:solidFill>
                            <a:srgbClr val="1F1F1F"/>
                          </a:solidFill>
                          <a:effectLst/>
                        </a:rPr>
                        <a:t>['0.5109', '0.4891']</a:t>
                      </a:r>
                      <a:endParaRPr lang="es-ES" sz="1200" dirty="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2482600613"/>
                  </a:ext>
                </a:extLst>
              </a:tr>
              <a:tr h="410103">
                <a:tc>
                  <a:txBody>
                    <a:bodyPr/>
                    <a:lstStyle/>
                    <a:p>
                      <a:pPr rtl="0"/>
                      <a:r>
                        <a:rPr lang="es-ES" sz="1200" b="1">
                          <a:solidFill>
                            <a:srgbClr val="1F1F1F"/>
                          </a:solidFill>
                          <a:effectLst/>
                        </a:rPr>
                        <a:t>1.4</a:t>
                      </a:r>
                      <a:endParaRPr lang="es-ES" sz="1200">
                        <a:solidFill>
                          <a:srgbClr val="1F1F1F"/>
                        </a:solidFill>
                        <a:effectLst/>
                        <a:latin typeface="Google Sans Text"/>
                      </a:endParaRPr>
                    </a:p>
                  </a:txBody>
                  <a:tcPr marL="71463" marR="89328" marT="119104" marB="119104" anchor="ctr"/>
                </a:tc>
                <a:tc>
                  <a:txBody>
                    <a:bodyPr/>
                    <a:lstStyle/>
                    <a:p>
                      <a:pPr rtl="0"/>
                      <a:r>
                        <a:rPr lang="es-ES" sz="1200">
                          <a:solidFill>
                            <a:srgbClr val="1F1F1F"/>
                          </a:solidFill>
                          <a:effectLst/>
                        </a:rPr>
                        <a:t>-0.0087</a:t>
                      </a:r>
                      <a:endParaRPr lang="es-ES" sz="1200">
                        <a:solidFill>
                          <a:srgbClr val="1F1F1F"/>
                        </a:solidFill>
                        <a:effectLst/>
                        <a:latin typeface="Google Sans Text"/>
                      </a:endParaRPr>
                    </a:p>
                  </a:txBody>
                  <a:tcPr marL="71463" marR="89328" marT="119104" marB="119104" anchor="ctr"/>
                </a:tc>
                <a:tc>
                  <a:txBody>
                    <a:bodyPr/>
                    <a:lstStyle/>
                    <a:p>
                      <a:pPr rtl="0"/>
                      <a:r>
                        <a:rPr lang="es-ES" sz="1200" dirty="0">
                          <a:solidFill>
                            <a:srgbClr val="1F1F1F"/>
                          </a:solidFill>
                          <a:effectLst/>
                        </a:rPr>
                        <a:t>['0.5109', '0.4891']</a:t>
                      </a:r>
                      <a:endParaRPr lang="es-ES" sz="1200" dirty="0">
                        <a:solidFill>
                          <a:srgbClr val="1F1F1F"/>
                        </a:solidFill>
                        <a:effectLst/>
                        <a:latin typeface="Google Sans Text"/>
                      </a:endParaRPr>
                    </a:p>
                  </a:txBody>
                  <a:tcPr marL="71463" marR="71463" marT="119104" marB="119104" anchor="ctr"/>
                </a:tc>
                <a:extLst>
                  <a:ext uri="{0D108BD9-81ED-4DB2-BD59-A6C34878D82A}">
                    <a16:rowId xmlns:a16="http://schemas.microsoft.com/office/drawing/2014/main" val="2804983260"/>
                  </a:ext>
                </a:extLst>
              </a:tr>
            </a:tbl>
          </a:graphicData>
        </a:graphic>
      </p:graphicFrame>
      <p:sp>
        <p:nvSpPr>
          <p:cNvPr id="7" name="Título 1">
            <a:extLst>
              <a:ext uri="{FF2B5EF4-FFF2-40B4-BE49-F238E27FC236}">
                <a16:creationId xmlns:a16="http://schemas.microsoft.com/office/drawing/2014/main" id="{CC7EFDCE-A0BC-4806-86F6-4A229C4890C4}"/>
              </a:ext>
            </a:extLst>
          </p:cNvPr>
          <p:cNvSpPr>
            <a:spLocks noGrp="1"/>
          </p:cNvSpPr>
          <p:nvPr>
            <p:ph type="title"/>
          </p:nvPr>
        </p:nvSpPr>
        <p:spPr>
          <a:xfrm>
            <a:off x="590550" y="206375"/>
            <a:ext cx="10991850" cy="307975"/>
          </a:xfrm>
        </p:spPr>
        <p:txBody>
          <a:bodyPr/>
          <a:lstStyle/>
          <a:p>
            <a:r>
              <a:rPr lang="es-ES" dirty="0"/>
              <a:t>Resolución </a:t>
            </a:r>
            <a:r>
              <a:rPr lang="en-US" sz="2000" dirty="0"/>
              <a:t>Learning outcome #4.3</a:t>
            </a:r>
            <a:endParaRPr lang="es-ES" dirty="0"/>
          </a:p>
        </p:txBody>
      </p:sp>
    </p:spTree>
    <p:extLst>
      <p:ext uri="{BB962C8B-B14F-4D97-AF65-F5344CB8AC3E}">
        <p14:creationId xmlns:p14="http://schemas.microsoft.com/office/powerpoint/2010/main" val="6591531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a:t>
            </a:r>
            <a:r>
              <a:rPr lang="en-US" sz="2500"/>
              <a:t>outcome #5 </a:t>
            </a:r>
            <a:r>
              <a:rPr lang="en-US" sz="2500" dirty="0"/>
              <a:t>–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process for a 1x4 MMI Coupler.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Dl = 0.1 </a:t>
            </a:r>
            <a:r>
              <a:rPr lang="en-US" sz="1200" dirty="0" err="1">
                <a:latin typeface="Arial" panose="020B0604020202020204" pitchFamily="34" charset="0"/>
                <a:cs typeface="Arial" panose="020B0604020202020204" pitchFamily="34" charset="0"/>
              </a:rPr>
              <a:t>dy</a:t>
            </a:r>
            <a:r>
              <a:rPr lang="en-US" sz="1200" dirty="0">
                <a:latin typeface="Arial" panose="020B0604020202020204" pitchFamily="34" charset="0"/>
                <a:cs typeface="Arial" panose="020B0604020202020204" pitchFamily="34" charset="0"/>
              </a:rPr>
              <a:t> = -1</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19</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1395</TotalTime>
  <Words>1584</Words>
  <Application>Microsoft Office PowerPoint</Application>
  <PresentationFormat>Panorámica</PresentationFormat>
  <Paragraphs>245</Paragraphs>
  <Slides>19</Slides>
  <Notes>11</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19</vt:i4>
      </vt:variant>
    </vt:vector>
  </HeadingPairs>
  <TitlesOfParts>
    <vt:vector size="27" baseType="lpstr">
      <vt:lpstr>Aptos</vt:lpstr>
      <vt:lpstr>Arial</vt:lpstr>
      <vt:lpstr>Calibri</vt:lpstr>
      <vt:lpstr>Cambria Math</vt:lpstr>
      <vt:lpstr>Google Sans Text</vt:lpstr>
      <vt:lpstr>Lucida Sans</vt:lpstr>
      <vt:lpstr>Times New Roman</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Gap 0.6 - 1.6 µm (step 0.1 µm) – Wavelength 1.55 µm </vt:lpstr>
      <vt:lpstr>Propagation plots for each gap between 0.6 - 1.6 µm (step 0.1 µm)</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Resolución Learning outcome #4.2</vt:lpstr>
      <vt:lpstr>Learning outcome #4.3 – 2x2 Multimode Interference Coupler – Optimization (II) Wavelength 1.55 µm, wMMI = 6.6 µm</vt:lpstr>
      <vt:lpstr>Resolución Learning outcome #4.3</vt:lpstr>
      <vt:lpstr>Learning outcome #5 – 1x4 Multimode Interference Coupler  Wavelength 1.55 µm, wMMI = ?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30</cp:revision>
  <dcterms:created xsi:type="dcterms:W3CDTF">2025-01-27T02:46:57Z</dcterms:created>
  <dcterms:modified xsi:type="dcterms:W3CDTF">2026-03-10T19:21:33Z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
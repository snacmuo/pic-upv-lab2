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290" r:id="rId15"/>
    <p:sldId id="292" r:id="rId16"/>
    <p:sldId id="298"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5" name="CuadroTexto 4">
            <a:extLst>
              <a:ext uri="{FF2B5EF4-FFF2-40B4-BE49-F238E27FC236}">
                <a16:creationId xmlns:a16="http://schemas.microsoft.com/office/drawing/2014/main" id="{43C69CDD-218E-494A-8C3E-1431DB5F9DC7}"/>
              </a:ext>
            </a:extLst>
          </p:cNvPr>
          <p:cNvSpPr txBox="1"/>
          <p:nvPr/>
        </p:nvSpPr>
        <p:spPr>
          <a:xfrm>
            <a:off x="8153400" y="1833699"/>
            <a:ext cx="3709297" cy="830997"/>
          </a:xfrm>
          <a:prstGeom prst="rect">
            <a:avLst/>
          </a:prstGeom>
          <a:noFill/>
        </p:spPr>
        <p:txBody>
          <a:bodyPr wrap="square" rtlCol="0">
            <a:spAutoFit/>
          </a:bodyPr>
          <a:lstStyle/>
          <a:p>
            <a:r>
              <a:rPr lang="es-ES" sz="1200" dirty="0"/>
              <a:t>Modo de operación:</a:t>
            </a:r>
          </a:p>
          <a:p>
            <a:r>
              <a:rPr lang="es-ES" sz="1200" dirty="0" err="1"/>
              <a:t>Directional</a:t>
            </a:r>
            <a:r>
              <a:rPr lang="es-ES" sz="1200" dirty="0"/>
              <a:t> </a:t>
            </a:r>
            <a:r>
              <a:rPr lang="es-ES" sz="1200" dirty="0" err="1"/>
              <a:t>couplers</a:t>
            </a:r>
            <a:r>
              <a:rPr lang="es-ES" sz="1200" dirty="0"/>
              <a:t> </a:t>
            </a:r>
            <a:r>
              <a:rPr lang="es-ES" sz="1200" dirty="0">
                <a:sym typeface="Wingdings" panose="05000000000000000000" pitchFamily="2" charset="2"/>
              </a:rPr>
              <a:t></a:t>
            </a:r>
            <a:r>
              <a:rPr lang="es-ES" sz="1200" dirty="0"/>
              <a:t>Transferencia de campo evanescente</a:t>
            </a:r>
          </a:p>
          <a:p>
            <a:r>
              <a:rPr lang="es-ES" sz="1200" dirty="0"/>
              <a:t>MMI </a:t>
            </a:r>
            <a:r>
              <a:rPr lang="es-ES" sz="1200" dirty="0">
                <a:sym typeface="Wingdings" panose="05000000000000000000" pitchFamily="2" charset="2"/>
              </a:rPr>
              <a:t> </a:t>
            </a:r>
            <a:r>
              <a:rPr lang="es-ES" sz="1200" dirty="0"/>
              <a:t>Interferencia modal</a:t>
            </a:r>
          </a:p>
        </p:txBody>
      </p:sp>
      <p:sp>
        <p:nvSpPr>
          <p:cNvPr id="6" name="CuadroTexto 5">
            <a:extLst>
              <a:ext uri="{FF2B5EF4-FFF2-40B4-BE49-F238E27FC236}">
                <a16:creationId xmlns:a16="http://schemas.microsoft.com/office/drawing/2014/main" id="{F9FF0642-522B-41B8-BECF-6A66A842FFBA}"/>
              </a:ext>
            </a:extLst>
          </p:cNvPr>
          <p:cNvSpPr txBox="1"/>
          <p:nvPr/>
        </p:nvSpPr>
        <p:spPr>
          <a:xfrm>
            <a:off x="8153400" y="2875625"/>
            <a:ext cx="3124200" cy="461665"/>
          </a:xfrm>
          <a:prstGeom prst="rect">
            <a:avLst/>
          </a:prstGeom>
          <a:noFill/>
        </p:spPr>
        <p:txBody>
          <a:bodyPr wrap="square" rtlCol="0">
            <a:spAutoFit/>
          </a:bodyPr>
          <a:lstStyle/>
          <a:p>
            <a:r>
              <a:rPr lang="es-ES" sz="1200" dirty="0"/>
              <a:t>En el DC el índice efectivo se usa para hallar la longitud de batido.</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para obtener una transferencia completa de energía entre guías de onda, se necesitará una longitud (L) igual a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 Por otra parte, para obtener una división de la potencia a la mitad se necesita una longitud (L) de la mitad de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K vs L/</a:t>
            </a:r>
            <a:r>
              <a:rPr lang="en-US" dirty="0" err="1"/>
              <a:t>Lpi</a:t>
            </a:r>
            <a:r>
              <a:rPr lang="en-US" dirty="0"/>
              <a:t>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583019" y="4889565"/>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gap </a:t>
            </a:r>
            <a:r>
              <a:rPr lang="en-US" sz="1200" dirty="0" err="1">
                <a:latin typeface="Arial" panose="020B0604020202020204" pitchFamily="34" charset="0"/>
                <a:cs typeface="Arial" panose="020B0604020202020204" pitchFamily="34" charset="0"/>
              </a:rPr>
              <a:t>hallar</a:t>
            </a:r>
            <a:r>
              <a:rPr lang="en-US" sz="1200" dirty="0">
                <a:latin typeface="Arial" panose="020B0604020202020204" pitchFamily="34" charset="0"/>
                <a:cs typeface="Arial" panose="020B0604020202020204" pitchFamily="34" charset="0"/>
              </a:rPr>
              <a:t> la division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de 50/50</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5" name="Imagen 4">
            <a:extLst>
              <a:ext uri="{FF2B5EF4-FFF2-40B4-BE49-F238E27FC236}">
                <a16:creationId xmlns:a16="http://schemas.microsoft.com/office/drawing/2014/main" id="{B9587ED5-83B4-453E-80B2-8A8468ED87BA}"/>
              </a:ext>
            </a:extLst>
          </p:cNvPr>
          <p:cNvPicPr>
            <a:picLocks noChangeAspect="1"/>
          </p:cNvPicPr>
          <p:nvPr/>
        </p:nvPicPr>
        <p:blipFill>
          <a:blip r:embed="rId5"/>
          <a:stretch>
            <a:fillRect/>
          </a:stretch>
        </p:blipFill>
        <p:spPr>
          <a:xfrm>
            <a:off x="1066800" y="1688991"/>
            <a:ext cx="3728137" cy="2924659"/>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43ED34-A14D-4A6E-B8F4-17FFD9B09985}"/>
              </a:ext>
            </a:extLst>
          </p:cNvPr>
          <p:cNvSpPr>
            <a:spLocks noGrp="1"/>
          </p:cNvSpPr>
          <p:nvPr>
            <p:ph type="title"/>
          </p:nvPr>
        </p:nvSpPr>
        <p:spPr/>
        <p:txBody>
          <a:bodyPr/>
          <a:lstStyle/>
          <a:p>
            <a:endParaRPr lang="es-ES"/>
          </a:p>
        </p:txBody>
      </p:sp>
      <p:sp>
        <p:nvSpPr>
          <p:cNvPr id="3" name="Marcador de texto 2">
            <a:extLst>
              <a:ext uri="{FF2B5EF4-FFF2-40B4-BE49-F238E27FC236}">
                <a16:creationId xmlns:a16="http://schemas.microsoft.com/office/drawing/2014/main" id="{A03F63E1-4FB0-4720-815E-D28325DD6207}"/>
              </a:ext>
            </a:extLst>
          </p:cNvPr>
          <p:cNvSpPr>
            <a:spLocks noGrp="1"/>
          </p:cNvSpPr>
          <p:nvPr>
            <p:ph type="body" idx="1"/>
          </p:nvPr>
        </p:nvSpPr>
        <p:spPr>
          <a:xfrm>
            <a:off x="609600" y="838200"/>
            <a:ext cx="10972800" cy="5265420"/>
          </a:xfrm>
        </p:spPr>
        <p:txBody>
          <a:bodyPr/>
          <a:lstStyle/>
          <a:p>
            <a:endParaRPr lang="es-ES" dirty="0"/>
          </a:p>
        </p:txBody>
      </p:sp>
      <p:sp>
        <p:nvSpPr>
          <p:cNvPr id="4" name="Marcador de pie de página 3">
            <a:extLst>
              <a:ext uri="{FF2B5EF4-FFF2-40B4-BE49-F238E27FC236}">
                <a16:creationId xmlns:a16="http://schemas.microsoft.com/office/drawing/2014/main" id="{9E771CBF-5C82-482D-923C-D4E6E77EC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E895DD-4DDF-49D4-993B-E9F3D1EC9FF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9B4A4D68-8EE2-4129-A570-C1FFFC38DAAF}"/>
              </a:ext>
            </a:extLst>
          </p:cNvPr>
          <p:cNvPicPr>
            <a:picLocks noChangeAspect="1"/>
          </p:cNvPicPr>
          <p:nvPr/>
        </p:nvPicPr>
        <p:blipFill>
          <a:blip r:embed="rId2"/>
          <a:stretch>
            <a:fillRect/>
          </a:stretch>
        </p:blipFill>
        <p:spPr>
          <a:xfrm>
            <a:off x="609600" y="838200"/>
            <a:ext cx="3429000" cy="872081"/>
          </a:xfrm>
          <a:prstGeom prst="rect">
            <a:avLst/>
          </a:prstGeom>
        </p:spPr>
      </p:pic>
    </p:spTree>
    <p:extLst>
      <p:ext uri="{BB962C8B-B14F-4D97-AF65-F5344CB8AC3E}">
        <p14:creationId xmlns:p14="http://schemas.microsoft.com/office/powerpoint/2010/main" val="2591439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sería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El </a:t>
            </a:r>
            <a:r>
              <a:rPr lang="en-US" sz="1200" dirty="0" err="1">
                <a:latin typeface="Arial" panose="020B0604020202020204" pitchFamily="34" charset="0"/>
                <a:cs typeface="Arial" panose="020B0604020202020204" pitchFamily="34" charset="0"/>
              </a:rPr>
              <a:t>parámetro</a:t>
            </a:r>
            <a:r>
              <a:rPr lang="en-US" sz="1200" dirty="0">
                <a:latin typeface="Arial" panose="020B0604020202020204" pitchFamily="34" charset="0"/>
                <a:cs typeface="Arial" panose="020B0604020202020204" pitchFamily="34" charset="0"/>
              </a:rPr>
              <a:t> clave es que K&lt;0.1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949</TotalTime>
  <Words>1105</Words>
  <Application>Microsoft Office PowerPoint</Application>
  <PresentationFormat>Panorámica</PresentationFormat>
  <Paragraphs>201</Paragraphs>
  <Slides>17</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15</cp:revision>
  <dcterms:created xsi:type="dcterms:W3CDTF">2025-01-27T02:46:57Z</dcterms:created>
  <dcterms:modified xsi:type="dcterms:W3CDTF">2026-03-02T11:19:26Z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